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provides an overview of DP World Switzerland's legal framework, including terms of service, compliance requirements, and dispute resolution processes. It clarifies user obligations and jurisdictional considerations for website usage.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Swiss users must follow UAE law for disputes and adhere to the Acceptable Use Policy. Highlight the jurisdictional authority of UAE courts and the necessity of policy compliance for content access.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DP World's website policies: 1) Access may be suspended without notice, 2) Printing/download for personal use only allowed, 3) IP rights reserved with restrictions on commercial use/redistribution, and 4) Unauthorized modifications prohibited. Emphasize compliance requirements for all users.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emphasizes legal requirements for content usage. Users must contact support for linking inquiries, agree to indemnify DP World for breaches, and understand uploaded content is non-confidential with no IP claims retained.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838200" y="1752600"/>
            <a:ext cx="4876800" cy="3048000"/>
          </a:xfrm>
          <a:prstGeom prst="roundRect">
            <a:avLst>
              <a:gd name="adj" fmla="val 5000"/>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f14ab85c-889f-400f-84cd-02358d70919f.png"/>
          <p:cNvPicPr>
            <a:picLocks noChangeAspect="1"/>
          </p:cNvPicPr>
          <p:nvPr/>
        </p:nvPicPr>
        <p:blipFill>
          <a:blip r:embed="rId3"/>
          <a:stretch>
            <a:fillRect/>
          </a:stretch>
        </p:blipFill>
        <p:spPr>
          <a:xfrm>
            <a:off x="838200" y="1752600"/>
            <a:ext cx="4876800" cy="3048000"/>
          </a:xfrm>
          <a:prstGeom prst="rect">
            <a:avLst/>
          </a:prstGeom>
        </p:spPr>
      </p:pic>
      <p:sp>
        <p:nvSpPr>
          <p:cNvPr id="4" name="TextBox 3"/>
          <p:cNvSpPr txBox="1"/>
          <p:nvPr/>
        </p:nvSpPr>
        <p:spPr>
          <a:xfrm>
            <a:off x="6400800" y="1924050"/>
            <a:ext cx="506730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DP World Legal</a:t>
            </a:r>
          </a:p>
        </p:txBody>
      </p:sp>
      <p:sp>
        <p:nvSpPr>
          <p:cNvPr id="5" name="Rectangle 4"/>
          <p:cNvSpPr/>
          <p:nvPr/>
        </p:nvSpPr>
        <p:spPr>
          <a:xfrm>
            <a:off x="6400800" y="3295650"/>
            <a:ext cx="7620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400800" y="3562350"/>
            <a:ext cx="5067300" cy="1066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4B5563"/>
                </a:solidFill>
                <a:latin typeface="Poppins"/>
              </a:defRPr>
            </a:pPr>
            <a:r>
              <a:rPr i="0" sz="1350" b="0">
                <a:solidFill>
                  <a:srgbClr val="4B5563"/>
                </a:solidFill>
                <a:latin typeface="Poppins"/>
              </a:rPr>
              <a:t>This slide outlines key legal terms, website policies, compliance requirements, and terms of service for DP World Switzerland. It covers user obligations, dispute resolution, and jurisdictional frameworks.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457200"/>
            <a:ext cx="10706100"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DPWorld</a:t>
            </a:r>
          </a:p>
        </p:txBody>
      </p:sp>
      <p:pic>
        <p:nvPicPr>
          <p:cNvPr id="3" name="Picture 2" descr="695fb922-603e-49d3-91ba-53b937498016.png"/>
          <p:cNvPicPr>
            <a:picLocks noChangeAspect="1"/>
          </p:cNvPicPr>
          <p:nvPr/>
        </p:nvPicPr>
        <p:blipFill>
          <a:blip r:embed="rId3"/>
          <a:stretch>
            <a:fillRect/>
          </a:stretch>
        </p:blipFill>
        <p:spPr>
          <a:xfrm>
            <a:off x="762000" y="1333500"/>
            <a:ext cx="5029200" cy="5219700"/>
          </a:xfrm>
          <a:prstGeom prst="rect">
            <a:avLst/>
          </a:prstGeom>
        </p:spPr>
      </p:pic>
      <p:pic>
        <p:nvPicPr>
          <p:cNvPr id="4" name="Picture 3" descr="710be3d4-d2db-4e71-813d-8ffdb47f3097.png"/>
          <p:cNvPicPr>
            <a:picLocks noChangeAspect="1"/>
          </p:cNvPicPr>
          <p:nvPr/>
        </p:nvPicPr>
        <p:blipFill>
          <a:blip r:embed="rId4"/>
          <a:stretch>
            <a:fillRect/>
          </a:stretch>
        </p:blipFill>
        <p:spPr>
          <a:xfrm>
            <a:off x="5257800" y="2095500"/>
            <a:ext cx="228600" cy="228600"/>
          </a:xfrm>
          <a:prstGeom prst="rect">
            <a:avLst/>
          </a:prstGeom>
        </p:spPr>
      </p:pic>
      <p:sp>
        <p:nvSpPr>
          <p:cNvPr id="5" name="Rounded Rectangle 4"/>
          <p:cNvSpPr/>
          <p:nvPr/>
        </p:nvSpPr>
        <p:spPr>
          <a:xfrm>
            <a:off x="1143000" y="2419350"/>
            <a:ext cx="4267200" cy="3048000"/>
          </a:xfrm>
          <a:prstGeom prst="roundRect">
            <a:avLst>
              <a:gd name="adj" fmla="val 5000"/>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76d97044-98f4-4c7a-a3a1-66143320fb28.png"/>
          <p:cNvPicPr>
            <a:picLocks noChangeAspect="1"/>
          </p:cNvPicPr>
          <p:nvPr/>
        </p:nvPicPr>
        <p:blipFill>
          <a:blip r:embed="rId5"/>
          <a:stretch>
            <a:fillRect/>
          </a:stretch>
        </p:blipFill>
        <p:spPr>
          <a:xfrm>
            <a:off x="1143000" y="2419350"/>
            <a:ext cx="4267200" cy="3048000"/>
          </a:xfrm>
          <a:prstGeom prst="rect">
            <a:avLst/>
          </a:prstGeom>
        </p:spPr>
      </p:pic>
      <p:sp>
        <p:nvSpPr>
          <p:cNvPr id="7" name="TextBox 6"/>
          <p:cNvSpPr txBox="1"/>
          <p:nvPr/>
        </p:nvSpPr>
        <p:spPr>
          <a:xfrm>
            <a:off x="6400800" y="2286000"/>
            <a:ext cx="5067300" cy="838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350" b="0">
                <a:solidFill>
                  <a:srgbClr val="4B5563"/>
                </a:solidFill>
                <a:latin typeface="Poppins"/>
              </a:defRPr>
            </a:pPr>
            <a:r>
              <a:rPr i="0" sz="1350" b="0">
                <a:solidFill>
                  <a:srgbClr val="4B5563"/>
                </a:solidFill>
                <a:latin typeface="Poppins"/>
              </a:rPr>
              <a:t>All users must comply with DP World's Terms </a:t>
            </a:r>
            <a:r>
              <a:rPr i="0" sz="1350" b="0">
                <a:solidFill>
                  <a:srgbClr val="4B5563"/>
                </a:solidFill>
                <a:latin typeface="Poppins"/>
              </a:rPr>
              <a:t>&amp;</a:t>
            </a:r>
            <a:r>
              <a:rPr i="0" sz="1350" b="0">
                <a:solidFill>
                  <a:srgbClr val="4B5563"/>
                </a:solidFill>
                <a:latin typeface="Poppins"/>
              </a:rPr>
              <a:t> Conditions. Disputes governed by UAE law with UAE courts having exclusive管辖权.</a:t>
            </a:r>
          </a:p>
        </p:txBody>
      </p:sp>
      <p:sp>
        <p:nvSpPr>
          <p:cNvPr id="8" name="Rounded Rectangle 7"/>
          <p:cNvSpPr/>
          <p:nvPr/>
        </p:nvSpPr>
        <p:spPr>
          <a:xfrm>
            <a:off x="6400800" y="3429000"/>
            <a:ext cx="457200" cy="457200"/>
          </a:xfrm>
          <a:prstGeom prst="roundRect">
            <a:avLst>
              <a:gd name="adj" fmla="val 15000"/>
            </a:avLst>
          </a:prstGeom>
          <a:solidFill>
            <a:srgbClr val="9333EA"/>
          </a:solidFill>
          <a:ln>
            <a:noFill/>
          </a:ln>
          <a:effectLst>
            <a:outerShdw blurRad="57150" dir="5400000" dist="3810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9" name="Picture 8" descr="d76da98c-3255-4d62-9e57-b3ab7ed8b0a4.png"/>
          <p:cNvPicPr>
            <a:picLocks noChangeAspect="1"/>
          </p:cNvPicPr>
          <p:nvPr/>
        </p:nvPicPr>
        <p:blipFill>
          <a:blip r:embed="rId6"/>
          <a:stretch>
            <a:fillRect/>
          </a:stretch>
        </p:blipFill>
        <p:spPr>
          <a:xfrm>
            <a:off x="6515100" y="3543300"/>
            <a:ext cx="228600" cy="228600"/>
          </a:xfrm>
          <a:prstGeom prst="rect">
            <a:avLst/>
          </a:prstGeom>
        </p:spPr>
      </p:pic>
      <p:sp>
        <p:nvSpPr>
          <p:cNvPr id="10" name="TextBox 9"/>
          <p:cNvSpPr txBox="1"/>
          <p:nvPr/>
        </p:nvSpPr>
        <p:spPr>
          <a:xfrm>
            <a:off x="7010400" y="3429000"/>
            <a:ext cx="4457700" cy="2667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9600"/>
              </a:lnSpc>
              <a:defRPr i="0" sz="1500" b="0">
                <a:solidFill>
                  <a:srgbClr val="111827"/>
                </a:solidFill>
                <a:latin typeface="Poppins"/>
              </a:defRPr>
            </a:pPr>
            <a:r>
              <a:rPr i="0" sz="1500" b="0">
                <a:solidFill>
                  <a:srgbClr val="111827"/>
                </a:solidFill>
                <a:latin typeface="Poppins"/>
              </a:rPr>
              <a:t>Legal Juris</a:t>
            </a:r>
          </a:p>
        </p:txBody>
      </p:sp>
      <p:sp>
        <p:nvSpPr>
          <p:cNvPr id="11" name="Rectangle 10"/>
          <p:cNvSpPr/>
          <p:nvPr/>
        </p:nvSpPr>
        <p:spPr>
          <a:xfrm>
            <a:off x="7010400" y="3771900"/>
            <a:ext cx="457200" cy="1905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7010400" y="3905250"/>
            <a:ext cx="4457700"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Website disputes governed by UAE law with exclusive jurisdiction in UAE courts</a:t>
            </a:r>
          </a:p>
        </p:txBody>
      </p:sp>
      <p:sp>
        <p:nvSpPr>
          <p:cNvPr id="13" name="Rounded Rectangle 12"/>
          <p:cNvSpPr/>
          <p:nvPr/>
        </p:nvSpPr>
        <p:spPr>
          <a:xfrm>
            <a:off x="6400800" y="4629150"/>
            <a:ext cx="457200" cy="457200"/>
          </a:xfrm>
          <a:prstGeom prst="roundRect">
            <a:avLst>
              <a:gd name="adj" fmla="val 15000"/>
            </a:avLst>
          </a:prstGeom>
          <a:solidFill>
            <a:srgbClr val="9333EA"/>
          </a:solidFill>
          <a:ln>
            <a:noFill/>
          </a:ln>
          <a:effectLst>
            <a:outerShdw blurRad="57150" dir="5400000" dist="3810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4" name="Picture 13" descr="d76da98c-3255-4d62-9e57-b3ab7ed8b0a4.png"/>
          <p:cNvPicPr>
            <a:picLocks noChangeAspect="1"/>
          </p:cNvPicPr>
          <p:nvPr/>
        </p:nvPicPr>
        <p:blipFill>
          <a:blip r:embed="rId6"/>
          <a:stretch>
            <a:fillRect/>
          </a:stretch>
        </p:blipFill>
        <p:spPr>
          <a:xfrm>
            <a:off x="6515100" y="4743450"/>
            <a:ext cx="228600" cy="228600"/>
          </a:xfrm>
          <a:prstGeom prst="rect">
            <a:avLst/>
          </a:prstGeom>
        </p:spPr>
      </p:pic>
      <p:sp>
        <p:nvSpPr>
          <p:cNvPr id="15" name="TextBox 14"/>
          <p:cNvSpPr txBox="1"/>
          <p:nvPr/>
        </p:nvSpPr>
        <p:spPr>
          <a:xfrm>
            <a:off x="7010400" y="4629150"/>
            <a:ext cx="4457700" cy="2667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9600"/>
              </a:lnSpc>
              <a:defRPr i="0" sz="1500" b="0">
                <a:solidFill>
                  <a:srgbClr val="111827"/>
                </a:solidFill>
                <a:latin typeface="Poppins"/>
              </a:defRPr>
            </a:pPr>
            <a:r>
              <a:rPr i="0" sz="1500" b="0">
                <a:solidFill>
                  <a:srgbClr val="111827"/>
                </a:solidFill>
                <a:latin typeface="Poppins"/>
              </a:rPr>
              <a:t>Policy Adher</a:t>
            </a:r>
          </a:p>
        </p:txBody>
      </p:sp>
      <p:sp>
        <p:nvSpPr>
          <p:cNvPr id="16" name="Rectangle 15"/>
          <p:cNvSpPr/>
          <p:nvPr/>
        </p:nvSpPr>
        <p:spPr>
          <a:xfrm>
            <a:off x="7010400" y="4972050"/>
            <a:ext cx="457200" cy="1905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7010400" y="5105400"/>
            <a:ext cx="4457700"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Users must follow DP World's Acceptable Use Policy for content access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2" name="Picture 1" descr="908e1497-d977-4146-9495-1b73a68a8350.png"/>
          <p:cNvPicPr>
            <a:picLocks noChangeAspect="1"/>
          </p:cNvPicPr>
          <p:nvPr/>
        </p:nvPicPr>
        <p:blipFill>
          <a:blip r:embed="rId3"/>
          <a:stretch>
            <a:fillRect/>
          </a:stretch>
        </p:blipFill>
        <p:spPr>
          <a:xfrm>
            <a:off x="0" y="6096000"/>
            <a:ext cx="12192000" cy="762000"/>
          </a:xfrm>
          <a:prstGeom prst="rect">
            <a:avLst/>
          </a:prstGeom>
        </p:spPr>
      </p:pic>
      <p:sp>
        <p:nvSpPr>
          <p:cNvPr id="3" name="TextBox 2"/>
          <p:cNvSpPr txBox="1"/>
          <p:nvPr/>
        </p:nvSpPr>
        <p:spPr>
          <a:xfrm>
            <a:off x="762000" y="457200"/>
            <a:ext cx="7353300"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Website Policies</a:t>
            </a:r>
          </a:p>
        </p:txBody>
      </p:sp>
      <p:sp>
        <p:nvSpPr>
          <p:cNvPr id="4" name="Rectangle 3"/>
          <p:cNvSpPr/>
          <p:nvPr/>
        </p:nvSpPr>
        <p:spPr>
          <a:xfrm>
            <a:off x="762000" y="1181100"/>
            <a:ext cx="9144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5" name="Picture 4" descr="53145c6f-a9bf-466c-a7cc-6057faae01f0.png"/>
          <p:cNvPicPr>
            <a:picLocks noChangeAspect="1"/>
          </p:cNvPicPr>
          <p:nvPr/>
        </p:nvPicPr>
        <p:blipFill>
          <a:blip r:embed="rId4"/>
          <a:stretch>
            <a:fillRect/>
          </a:stretch>
        </p:blipFill>
        <p:spPr>
          <a:xfrm>
            <a:off x="8382000" y="457200"/>
            <a:ext cx="3048000" cy="1828800"/>
          </a:xfrm>
          <a:prstGeom prst="rect">
            <a:avLst/>
          </a:prstGeom>
        </p:spPr>
      </p:pic>
      <p:sp>
        <p:nvSpPr>
          <p:cNvPr id="6" name="TextBox 5"/>
          <p:cNvSpPr txBox="1"/>
          <p:nvPr/>
        </p:nvSpPr>
        <p:spPr>
          <a:xfrm>
            <a:off x="762000" y="2590800"/>
            <a:ext cx="50824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7" name="TextBox 6"/>
          <p:cNvSpPr txBox="1"/>
          <p:nvPr/>
        </p:nvSpPr>
        <p:spPr>
          <a:xfrm>
            <a:off x="1384548" y="2667000"/>
            <a:ext cx="4597003"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Suspension of Web</a:t>
            </a:r>
          </a:p>
        </p:txBody>
      </p:sp>
      <p:sp>
        <p:nvSpPr>
          <p:cNvPr id="8" name="TextBox 7"/>
          <p:cNvSpPr txBox="1"/>
          <p:nvPr/>
        </p:nvSpPr>
        <p:spPr>
          <a:xfrm>
            <a:off x="1384548" y="3086100"/>
            <a:ext cx="4597003" cy="7429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DP World reserves the right to suspend or restrict website access without prior notice.</a:t>
            </a:r>
          </a:p>
        </p:txBody>
      </p:sp>
      <p:sp>
        <p:nvSpPr>
          <p:cNvPr id="9" name="TextBox 8"/>
          <p:cNvSpPr txBox="1"/>
          <p:nvPr/>
        </p:nvSpPr>
        <p:spPr>
          <a:xfrm>
            <a:off x="6248400" y="2590800"/>
            <a:ext cx="597396"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0" name="TextBox 9"/>
          <p:cNvSpPr txBox="1"/>
          <p:nvPr/>
        </p:nvSpPr>
        <p:spPr>
          <a:xfrm>
            <a:off x="6960096" y="2667000"/>
            <a:ext cx="450785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Suspension of Web</a:t>
            </a:r>
          </a:p>
        </p:txBody>
      </p:sp>
      <p:sp>
        <p:nvSpPr>
          <p:cNvPr id="11" name="TextBox 10"/>
          <p:cNvSpPr txBox="1"/>
          <p:nvPr/>
        </p:nvSpPr>
        <p:spPr>
          <a:xfrm>
            <a:off x="6960096" y="3086100"/>
            <a:ext cx="450785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DP World reserves the right to suspend or restrict website access without prior notice.</a:t>
            </a:r>
          </a:p>
        </p:txBody>
      </p:sp>
      <p:sp>
        <p:nvSpPr>
          <p:cNvPr id="12" name="TextBox 11"/>
          <p:cNvSpPr txBox="1"/>
          <p:nvPr/>
        </p:nvSpPr>
        <p:spPr>
          <a:xfrm>
            <a:off x="762000" y="4133850"/>
            <a:ext cx="612725"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3" name="TextBox 12"/>
          <p:cNvSpPr txBox="1"/>
          <p:nvPr/>
        </p:nvSpPr>
        <p:spPr>
          <a:xfrm>
            <a:off x="1489025" y="4210050"/>
            <a:ext cx="449252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Suspension of Web</a:t>
            </a:r>
          </a:p>
        </p:txBody>
      </p:sp>
      <p:sp>
        <p:nvSpPr>
          <p:cNvPr id="14" name="TextBox 13"/>
          <p:cNvSpPr txBox="1"/>
          <p:nvPr/>
        </p:nvSpPr>
        <p:spPr>
          <a:xfrm>
            <a:off x="1489025" y="4629150"/>
            <a:ext cx="449252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DP World reserves the right to suspend or restrict website access without prior notice.</a:t>
            </a:r>
          </a:p>
        </p:txBody>
      </p:sp>
      <p:sp>
        <p:nvSpPr>
          <p:cNvPr id="15" name="TextBox 14"/>
          <p:cNvSpPr txBox="1"/>
          <p:nvPr/>
        </p:nvSpPr>
        <p:spPr>
          <a:xfrm>
            <a:off x="6248400" y="4133850"/>
            <a:ext cx="645765"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3600" b="1">
                <a:solidFill>
                  <a:srgbClr val="111827"/>
                </a:solidFill>
                <a:latin typeface="Poppins"/>
              </a:defRPr>
            </a:pPr>
            <a:r>
              <a:rPr i="0" sz="3600" b="1">
                <a:solidFill>
                  <a:srgbClr val="111827"/>
                </a:solidFill>
                <a:latin typeface="Poppins"/>
              </a:rPr>
              <a:t>1</a:t>
            </a:r>
          </a:p>
        </p:txBody>
      </p:sp>
      <p:sp>
        <p:nvSpPr>
          <p:cNvPr id="16" name="TextBox 15"/>
          <p:cNvSpPr txBox="1"/>
          <p:nvPr/>
        </p:nvSpPr>
        <p:spPr>
          <a:xfrm>
            <a:off x="7008465" y="4210050"/>
            <a:ext cx="4459485" cy="304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5600"/>
              </a:lnSpc>
              <a:defRPr i="0" sz="1800" b="1">
                <a:solidFill>
                  <a:srgbClr val="111827"/>
                </a:solidFill>
                <a:latin typeface="Poppins"/>
              </a:defRPr>
            </a:pPr>
            <a:r>
              <a:rPr i="0" sz="1800" b="1">
                <a:solidFill>
                  <a:srgbClr val="111827"/>
                </a:solidFill>
                <a:latin typeface="Poppins"/>
              </a:rPr>
              <a:t>Suspension of Web</a:t>
            </a:r>
          </a:p>
        </p:txBody>
      </p:sp>
      <p:sp>
        <p:nvSpPr>
          <p:cNvPr id="17" name="TextBox 16"/>
          <p:cNvSpPr txBox="1"/>
          <p:nvPr/>
        </p:nvSpPr>
        <p:spPr>
          <a:xfrm>
            <a:off x="7008465" y="4629150"/>
            <a:ext cx="4459485"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DP World reserves the right to suspend or restrict website access without prior notice.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pic>
        <p:nvPicPr>
          <p:cNvPr id="2" name="Picture 1" descr="506f32c9-367c-481f-a6ee-048b0a84c643.png"/>
          <p:cNvPicPr>
            <a:picLocks noChangeAspect="1"/>
          </p:cNvPicPr>
          <p:nvPr/>
        </p:nvPicPr>
        <p:blipFill>
          <a:blip r:embed="rId3"/>
          <a:stretch>
            <a:fillRect/>
          </a:stretch>
        </p:blipFill>
        <p:spPr>
          <a:xfrm>
            <a:off x="0" y="5029200"/>
            <a:ext cx="1828800" cy="1828800"/>
          </a:xfrm>
          <a:prstGeom prst="rect">
            <a:avLst/>
          </a:prstGeom>
        </p:spPr>
      </p:pic>
      <p:pic>
        <p:nvPicPr>
          <p:cNvPr id="3" name="Picture 2" descr="7bfbcfd5-b635-4afd-86d3-05acd9986915.png"/>
          <p:cNvPicPr>
            <a:picLocks noChangeAspect="1"/>
          </p:cNvPicPr>
          <p:nvPr/>
        </p:nvPicPr>
        <p:blipFill>
          <a:blip r:embed="rId4"/>
          <a:stretch>
            <a:fillRect/>
          </a:stretch>
        </p:blipFill>
        <p:spPr>
          <a:xfrm>
            <a:off x="9753600" y="0"/>
            <a:ext cx="2438400" cy="2438400"/>
          </a:xfrm>
          <a:prstGeom prst="rect">
            <a:avLst/>
          </a:prstGeom>
        </p:spPr>
      </p:pic>
      <p:sp>
        <p:nvSpPr>
          <p:cNvPr id="4" name="Rounded Rectangle 3"/>
          <p:cNvSpPr/>
          <p:nvPr/>
        </p:nvSpPr>
        <p:spPr>
          <a:xfrm>
            <a:off x="838200" y="1676400"/>
            <a:ext cx="4876800" cy="3657600"/>
          </a:xfrm>
          <a:prstGeom prst="roundRect">
            <a:avLst>
              <a:gd name="adj" fmla="val 4687"/>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5" name="Picture 4" descr="680f97cd-2dfa-4e13-ae11-f33eff5f9996.png"/>
          <p:cNvPicPr>
            <a:picLocks noChangeAspect="1"/>
          </p:cNvPicPr>
          <p:nvPr/>
        </p:nvPicPr>
        <p:blipFill>
          <a:blip r:embed="rId5"/>
          <a:stretch>
            <a:fillRect/>
          </a:stretch>
        </p:blipFill>
        <p:spPr>
          <a:xfrm>
            <a:off x="838200" y="2133004"/>
            <a:ext cx="4876800" cy="2744390"/>
          </a:xfrm>
          <a:prstGeom prst="rect">
            <a:avLst/>
          </a:prstGeom>
        </p:spPr>
      </p:pic>
      <p:sp>
        <p:nvSpPr>
          <p:cNvPr id="6" name="TextBox 5"/>
          <p:cNvSpPr txBox="1"/>
          <p:nvPr/>
        </p:nvSpPr>
        <p:spPr>
          <a:xfrm>
            <a:off x="6400800" y="1781175"/>
            <a:ext cx="5067300" cy="120015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Legal Compliance </a:t>
            </a:r>
            <a:r>
              <a:rPr i="0" sz="4500" b="1">
                <a:solidFill>
                  <a:srgbClr val="111827"/>
                </a:solidFill>
                <a:latin typeface="Poppins"/>
              </a:rPr>
              <a:t>&amp;</a:t>
            </a:r>
            <a:r>
              <a:rPr i="0" sz="4500" b="1">
                <a:solidFill>
                  <a:srgbClr val="111827"/>
                </a:solidFill>
                <a:latin typeface="Poppins"/>
              </a:rPr>
              <a:t>amp</a:t>
            </a:r>
          </a:p>
        </p:txBody>
      </p:sp>
      <p:sp>
        <p:nvSpPr>
          <p:cNvPr id="7" name="TextBox 6"/>
          <p:cNvSpPr txBox="1"/>
          <p:nvPr/>
        </p:nvSpPr>
        <p:spPr>
          <a:xfrm>
            <a:off x="6400800" y="3181350"/>
            <a:ext cx="5067300" cy="1066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4B5563"/>
                </a:solidFill>
                <a:latin typeface="Poppins"/>
              </a:defRPr>
            </a:pPr>
            <a:r>
              <a:rPr i="0" sz="1350" b="0">
                <a:solidFill>
                  <a:srgbClr val="4B5563"/>
                </a:solidFill>
                <a:latin typeface="Poppins"/>
              </a:rPr>
              <a:t>Users must contact [email protected] for content linking inquiries. Indemnification agreement required for term breaches. Uploaded content is non-confidential/non-proprietary with no IP/</a:t>
            </a:r>
          </a:p>
        </p:txBody>
      </p:sp>
      <p:sp>
        <p:nvSpPr>
          <p:cNvPr id="8" name="TextBox 7"/>
          <p:cNvSpPr txBox="1"/>
          <p:nvPr/>
        </p:nvSpPr>
        <p:spPr>
          <a:xfrm>
            <a:off x="7148066" y="4476750"/>
            <a:ext cx="943719" cy="151953"/>
          </a:xfrm>
          <a:prstGeom prst="rect">
            <a:avLst/>
          </a:prstGeom>
          <a:noFill/>
          <a:ln>
            <a:noFill/>
          </a:ln>
          <a:effectLst>
            <a:outerShdw blurRad="0" dist="0" dir="0">
              <a:srgbClr val="000000">
                <a:alpha val="0"/>
              </a:srgbClr>
            </a:outerShdw>
          </a:effectLst>
        </p:spPr>
        <p:txBody>
          <a:bodyPr wrap="square" anchor="ctr" lIns="0" rIns="0" tIns="0" bIns="0">
            <a:spAutoFit/>
          </a:bodyPr>
          <a:lstStyle/>
          <a:p>
            <a:pPr algn="ctr">
              <a:lnSpc>
                <a:spcPct val="91200"/>
              </a:lnSpc>
              <a:defRPr i="0" sz="1050" b="0">
                <a:solidFill>
                  <a:srgbClr val="4B5563"/>
                </a:solidFill>
                <a:latin typeface="Poppins"/>
              </a:defRPr>
            </a:pPr>
            <a:r>
              <a:rPr i="0" sz="1050" b="0">
                <a:solidFill>
                  <a:srgbClr val="4B5563"/>
                </a:solidFill>
                <a:latin typeface="Poppins"/>
              </a:rPr>
              <a:t>Email Support</a:t>
            </a:r>
          </a:p>
        </p:txBody>
      </p:sp>
      <p:sp>
        <p:nvSpPr>
          <p:cNvPr id="9" name="TextBox 8"/>
          <p:cNvSpPr txBox="1"/>
          <p:nvPr/>
        </p:nvSpPr>
        <p:spPr>
          <a:xfrm>
            <a:off x="7099250" y="4704903"/>
            <a:ext cx="1041499" cy="365670"/>
          </a:xfrm>
          <a:prstGeom prst="rect">
            <a:avLst/>
          </a:prstGeom>
          <a:noFill/>
          <a:ln>
            <a:noFill/>
          </a:ln>
          <a:effectLst>
            <a:outerShdw blurRad="0" dist="0" dir="0">
              <a:srgbClr val="000000">
                <a:alpha val="0"/>
              </a:srgbClr>
            </a:outerShdw>
          </a:effectLst>
        </p:spPr>
        <p:txBody>
          <a:bodyPr wrap="square" anchor="ctr" lIns="0" rIns="0" tIns="0" bIns="0">
            <a:spAutoFit/>
          </a:bodyPr>
          <a:lstStyle/>
          <a:p>
            <a:pPr algn="ctr">
              <a:lnSpc>
                <a:spcPct val="64000"/>
              </a:lnSpc>
              <a:defRPr i="0" sz="3600" b="1">
                <a:solidFill>
                  <a:srgbClr val="9333EA"/>
                </a:solidFill>
                <a:latin typeface="Poppins"/>
              </a:defRPr>
            </a:pPr>
            <a:r>
              <a:rPr i="0" sz="3600" b="1">
                <a:solidFill>
                  <a:srgbClr val="9333EA"/>
                </a:solidFill>
                <a:latin typeface="Poppins"/>
              </a:rPr>
              <a:t>24/7</a:t>
            </a:r>
          </a:p>
        </p:txBody>
      </p:sp>
      <p:sp>
        <p:nvSpPr>
          <p:cNvPr id="10" name="TextBox 9"/>
          <p:cNvSpPr txBox="1"/>
          <p:nvPr/>
        </p:nvSpPr>
        <p:spPr>
          <a:xfrm>
            <a:off x="9716244" y="4476750"/>
            <a:ext cx="1065311" cy="151953"/>
          </a:xfrm>
          <a:prstGeom prst="rect">
            <a:avLst/>
          </a:prstGeom>
          <a:noFill/>
          <a:ln>
            <a:noFill/>
          </a:ln>
          <a:effectLst>
            <a:outerShdw blurRad="0" dist="0" dir="0">
              <a:srgbClr val="000000">
                <a:alpha val="0"/>
              </a:srgbClr>
            </a:outerShdw>
          </a:effectLst>
        </p:spPr>
        <p:txBody>
          <a:bodyPr wrap="square" anchor="ctr" lIns="0" rIns="0" tIns="0" bIns="0">
            <a:spAutoFit/>
          </a:bodyPr>
          <a:lstStyle/>
          <a:p>
            <a:pPr algn="ctr">
              <a:lnSpc>
                <a:spcPct val="91200"/>
              </a:lnSpc>
              <a:defRPr i="0" sz="1050" b="0">
                <a:solidFill>
                  <a:srgbClr val="4B5563"/>
                </a:solidFill>
                <a:latin typeface="Poppins"/>
              </a:defRPr>
            </a:pPr>
            <a:r>
              <a:rPr i="0" sz="1050" b="0">
                <a:solidFill>
                  <a:srgbClr val="4B5563"/>
                </a:solidFill>
                <a:latin typeface="Poppins"/>
              </a:rPr>
              <a:t>Indemnification</a:t>
            </a:r>
          </a:p>
        </p:txBody>
      </p:sp>
      <p:sp>
        <p:nvSpPr>
          <p:cNvPr id="11" name="TextBox 10"/>
          <p:cNvSpPr txBox="1"/>
          <p:nvPr/>
        </p:nvSpPr>
        <p:spPr>
          <a:xfrm>
            <a:off x="9564885" y="4704903"/>
            <a:ext cx="1367879" cy="365670"/>
          </a:xfrm>
          <a:prstGeom prst="rect">
            <a:avLst/>
          </a:prstGeom>
          <a:noFill/>
          <a:ln>
            <a:noFill/>
          </a:ln>
          <a:effectLst>
            <a:outerShdw blurRad="0" dist="0" dir="0">
              <a:srgbClr val="000000">
                <a:alpha val="0"/>
              </a:srgbClr>
            </a:outerShdw>
          </a:effectLst>
        </p:spPr>
        <p:txBody>
          <a:bodyPr wrap="square" anchor="ctr" lIns="0" rIns="0" tIns="0" bIns="0">
            <a:spAutoFit/>
          </a:bodyPr>
          <a:lstStyle/>
          <a:p>
            <a:pPr algn="ctr">
              <a:lnSpc>
                <a:spcPct val="64000"/>
              </a:lnSpc>
              <a:defRPr i="0" sz="3600" b="1">
                <a:solidFill>
                  <a:srgbClr val="9333EA"/>
                </a:solidFill>
                <a:latin typeface="Poppins"/>
              </a:defRPr>
            </a:pPr>
            <a:r>
              <a:rPr i="0" sz="3600" b="1">
                <a:solidFill>
                  <a:srgbClr val="9333EA"/>
                </a:solidFill>
                <a:latin typeface="Poppins"/>
              </a:rPr>
              <a:t>Mand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