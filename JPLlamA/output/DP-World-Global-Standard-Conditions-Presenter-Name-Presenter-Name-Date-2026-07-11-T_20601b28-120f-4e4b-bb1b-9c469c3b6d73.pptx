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Name: [Presenter Name] | Date: 2026-07-11. This slide introduces the framework for DP World's global standard conditions, emphasizing legal compliance, user responsibilities, and service availability. Key elements include website terms, jurisdictional considerations, content policies, and compliance protocols across international operations.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global terms and conditions registered in the UAE. Key points: Terms govern website usage for all users, disputes resolved under UAE law, and alignment with local regulations. Contact details are provided for user inquiries. The visual reinforces DP World's international business presence.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terms and jurisdiction for website access, emphasizing user responsibilities, dispute resolution processes, and the applicability of UAE law to ensure compliance with regional standards. Contact [email protected] for additional requests.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content: Website availability may be suspended or restricted without prior notice. Third-party links are provided for informational purposes only. DP World disclaims liability for external content, emphasizing that users assume responsibility for verifying external 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8c892eb6-e04c-4aa1-b2fc-04c4e1f2c28e.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Global Standards</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presentation outlines DP World's global standard conditions covering website use terms, jurisdictional frameworks, content policies, compliance requirements, and service availability. Key topics include: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DPWorld</a:t>
            </a:r>
          </a:p>
        </p:txBody>
      </p:sp>
      <p:pic>
        <p:nvPicPr>
          <p:cNvPr id="3" name="Picture 2" descr="3dac963f-f81d-4811-8468-81da99f6015a.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a78ec206-cf8c-469e-9f0f-98c61dc00e03.png"/>
          <p:cNvPicPr>
            <a:picLocks noChangeAspect="1"/>
          </p:cNvPicPr>
          <p:nvPr/>
        </p:nvPicPr>
        <p:blipFill>
          <a:blip r:embed="rId4"/>
          <a:stretch>
            <a:fillRect/>
          </a:stretch>
        </p:blipFill>
        <p:spPr>
          <a:xfrm>
            <a:off x="5257800" y="2095500"/>
            <a:ext cx="228600" cy="228600"/>
          </a:xfrm>
          <a:prstGeom prst="rect">
            <a:avLst/>
          </a:prstGeom>
        </p:spPr>
      </p:pic>
      <p:sp>
        <p:nvSpPr>
          <p:cNvPr id="5" name="Rounded Rectangle 4"/>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74bfb85f-60a9-4289-aef9-91a7de9a19e9.png"/>
          <p:cNvPicPr>
            <a:picLocks noChangeAspect="1"/>
          </p:cNvPicPr>
          <p:nvPr/>
        </p:nvPicPr>
        <p:blipFill>
          <a:blip r:embed="rId5"/>
          <a:stretch>
            <a:fillRect/>
          </a:stretch>
        </p:blipFill>
        <p:spPr>
          <a:xfrm>
            <a:off x="1143000" y="2419350"/>
            <a:ext cx="4267200" cy="3048000"/>
          </a:xfrm>
          <a:prstGeom prst="rect">
            <a:avLst/>
          </a:prstGeom>
        </p:spPr>
      </p:pic>
      <p:sp>
        <p:nvSpPr>
          <p:cNvPr id="7" name="TextBox 6"/>
          <p:cNvSpPr txBox="1"/>
          <p:nvPr/>
        </p:nvSpPr>
        <p:spPr>
          <a:xfrm>
            <a:off x="6400800" y="2286000"/>
            <a:ext cx="5067300"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350" b="0">
                <a:solidFill>
                  <a:srgbClr val="4B5563"/>
                </a:solidFill>
                <a:latin typeface="Poppins"/>
              </a:defRPr>
            </a:pPr>
            <a:r>
              <a:rPr i="0" sz="1350" b="0">
                <a:solidFill>
                  <a:srgbClr val="4B5563"/>
                </a:solidFill>
                <a:latin typeface="Poppins"/>
              </a:rPr>
              <a:t>These terms govern website usage, apply to all users, and resolve disputes under UAE law, aligning with local regulations иt</a:t>
            </a:r>
          </a:p>
        </p:txBody>
      </p:sp>
      <p:sp>
        <p:nvSpPr>
          <p:cNvPr id="8" name="Rounded Rectangle 7"/>
          <p:cNvSpPr/>
          <p:nvPr/>
        </p:nvSpPr>
        <p:spPr>
          <a:xfrm>
            <a:off x="6400800" y="342900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67c0d3f7-9e03-45b6-9fdd-7e61c3849c1a.png"/>
          <p:cNvPicPr>
            <a:picLocks noChangeAspect="1"/>
          </p:cNvPicPr>
          <p:nvPr/>
        </p:nvPicPr>
        <p:blipFill>
          <a:blip r:embed="rId6"/>
          <a:stretch>
            <a:fillRect/>
          </a:stretch>
        </p:blipFill>
        <p:spPr>
          <a:xfrm>
            <a:off x="6515100" y="3543300"/>
            <a:ext cx="228600" cy="228600"/>
          </a:xfrm>
          <a:prstGeom prst="rect">
            <a:avLst/>
          </a:prstGeom>
        </p:spPr>
      </p:pic>
      <p:sp>
        <p:nvSpPr>
          <p:cNvPr id="10" name="TextBox 9"/>
          <p:cNvSpPr txBox="1"/>
          <p:nvPr/>
        </p:nvSpPr>
        <p:spPr>
          <a:xfrm>
            <a:off x="7010400" y="342900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UAE Law</a:t>
            </a:r>
          </a:p>
        </p:txBody>
      </p:sp>
      <p:sp>
        <p:nvSpPr>
          <p:cNvPr id="11" name="Rectangle 10"/>
          <p:cNvSpPr/>
          <p:nvPr/>
        </p:nvSpPr>
        <p:spPr>
          <a:xfrm>
            <a:off x="7010400" y="377190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7010400" y="390525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Dispute resolution follows UAE law, ensuring compliance with local regulations and consumer right</a:t>
            </a:r>
          </a:p>
        </p:txBody>
      </p:sp>
      <p:sp>
        <p:nvSpPr>
          <p:cNvPr id="13" name="Rounded Rectangle 12"/>
          <p:cNvSpPr/>
          <p:nvPr/>
        </p:nvSpPr>
        <p:spPr>
          <a:xfrm>
            <a:off x="6400800" y="462915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67c0d3f7-9e03-45b6-9fdd-7e61c3849c1a.png"/>
          <p:cNvPicPr>
            <a:picLocks noChangeAspect="1"/>
          </p:cNvPicPr>
          <p:nvPr/>
        </p:nvPicPr>
        <p:blipFill>
          <a:blip r:embed="rId6"/>
          <a:stretch>
            <a:fillRect/>
          </a:stretch>
        </p:blipFill>
        <p:spPr>
          <a:xfrm>
            <a:off x="6515100" y="4743450"/>
            <a:ext cx="228600" cy="228600"/>
          </a:xfrm>
          <a:prstGeom prst="rect">
            <a:avLst/>
          </a:prstGeom>
        </p:spPr>
      </p:pic>
      <p:sp>
        <p:nvSpPr>
          <p:cNvPr id="15" name="TextBox 14"/>
          <p:cNvSpPr txBox="1"/>
          <p:nvPr/>
        </p:nvSpPr>
        <p:spPr>
          <a:xfrm>
            <a:off x="7010400" y="462915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Standard</a:t>
            </a:r>
          </a:p>
        </p:txBody>
      </p:sp>
      <p:sp>
        <p:nvSpPr>
          <p:cNvPr id="16" name="Rectangle 15"/>
          <p:cNvSpPr/>
          <p:nvPr/>
        </p:nvSpPr>
        <p:spPr>
          <a:xfrm>
            <a:off x="7010400" y="497205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010400" y="510540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Global terms apply uniformly to all users, maintaining consistency across international platforms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fb6808e9-fad0-49e5-8882-a1fe5562cf41.png"/>
          <p:cNvPicPr>
            <a:picLocks noChangeAspect="1"/>
          </p:cNvPicPr>
          <p:nvPr/>
        </p:nvPicPr>
        <p:blipFill>
          <a:blip r:embed="rId3"/>
          <a:stretch>
            <a:fillRect/>
          </a:stretch>
        </p:blipFill>
        <p:spPr>
          <a:xfrm>
            <a:off x="0" y="5029200"/>
            <a:ext cx="1828800" cy="1828800"/>
          </a:xfrm>
          <a:prstGeom prst="rect">
            <a:avLst/>
          </a:prstGeom>
        </p:spPr>
      </p:pic>
      <p:pic>
        <p:nvPicPr>
          <p:cNvPr id="3" name="Picture 2" descr="8f87401d-ca53-4778-bae4-bd137487fc85.png"/>
          <p:cNvPicPr>
            <a:picLocks noChangeAspect="1"/>
          </p:cNvPicPr>
          <p:nvPr/>
        </p:nvPicPr>
        <p:blipFill>
          <a:blip r:embed="rId4"/>
          <a:stretch>
            <a:fillRect/>
          </a:stretch>
        </p:blipFill>
        <p:spPr>
          <a:xfrm>
            <a:off x="9753600" y="0"/>
            <a:ext cx="2438400" cy="2438400"/>
          </a:xfrm>
          <a:prstGeom prst="rect">
            <a:avLst/>
          </a:prstGeom>
        </p:spPr>
      </p:pic>
      <p:sp>
        <p:nvSpPr>
          <p:cNvPr id="4" name="Rounded Rectangle 3"/>
          <p:cNvSpPr/>
          <p:nvPr/>
        </p:nvSpPr>
        <p:spPr>
          <a:xfrm>
            <a:off x="838200" y="1676400"/>
            <a:ext cx="4876800" cy="3657600"/>
          </a:xfrm>
          <a:prstGeom prst="roundRect">
            <a:avLst>
              <a:gd name="adj" fmla="val 4687"/>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76b7e239-734e-4012-941f-8aee6265be2b.png"/>
          <p:cNvPicPr>
            <a:picLocks noChangeAspect="1"/>
          </p:cNvPicPr>
          <p:nvPr/>
        </p:nvPicPr>
        <p:blipFill>
          <a:blip r:embed="rId5"/>
          <a:stretch>
            <a:fillRect/>
          </a:stretch>
        </p:blipFill>
        <p:spPr>
          <a:xfrm>
            <a:off x="1209675" y="409575"/>
            <a:ext cx="4133850" cy="6191250"/>
          </a:xfrm>
          <a:prstGeom prst="rect">
            <a:avLst/>
          </a:prstGeom>
        </p:spPr>
      </p:pic>
      <p:sp>
        <p:nvSpPr>
          <p:cNvPr id="6" name="TextBox 5"/>
          <p:cNvSpPr txBox="1"/>
          <p:nvPr/>
        </p:nvSpPr>
        <p:spPr>
          <a:xfrm>
            <a:off x="6400800" y="1781175"/>
            <a:ext cx="5067300" cy="1200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Use </a:t>
            </a:r>
            <a:r>
              <a:rPr i="0" sz="4500" b="1">
                <a:solidFill>
                  <a:srgbClr val="111827"/>
                </a:solidFill>
                <a:latin typeface="Poppins"/>
              </a:rPr>
              <a:t>&amp;</a:t>
            </a:r>
            <a:r>
              <a:rPr i="0" sz="4500" b="1">
                <a:solidFill>
                  <a:srgbClr val="111827"/>
                </a:solidFill>
                <a:latin typeface="Poppins"/>
              </a:rPr>
              <a:t> Jurison</a:t>
            </a:r>
          </a:p>
        </p:txBody>
      </p:sp>
      <p:sp>
        <p:nvSpPr>
          <p:cNvPr id="7" name="TextBox 6"/>
          <p:cNvSpPr txBox="1"/>
          <p:nvPr/>
        </p:nvSpPr>
        <p:spPr>
          <a:xfrm>
            <a:off x="6400800" y="3181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Website access is subject to these terms, outlining user responsibilities and dispute resolution. For additional requests, contact [email protected]. UAE law governs all legal matters,包括</a:t>
            </a:r>
          </a:p>
        </p:txBody>
      </p:sp>
      <p:sp>
        <p:nvSpPr>
          <p:cNvPr id="8" name="TextBox 7"/>
          <p:cNvSpPr txBox="1"/>
          <p:nvPr/>
        </p:nvSpPr>
        <p:spPr>
          <a:xfrm>
            <a:off x="7207299" y="4476750"/>
            <a:ext cx="825251"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User Respns</a:t>
            </a:r>
          </a:p>
        </p:txBody>
      </p:sp>
      <p:sp>
        <p:nvSpPr>
          <p:cNvPr id="9" name="TextBox 8"/>
          <p:cNvSpPr txBox="1"/>
          <p:nvPr/>
        </p:nvSpPr>
        <p:spPr>
          <a:xfrm>
            <a:off x="6998493" y="4704903"/>
            <a:ext cx="1243012"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Mndt</a:t>
            </a:r>
          </a:p>
        </p:txBody>
      </p:sp>
      <p:sp>
        <p:nvSpPr>
          <p:cNvPr id="10" name="TextBox 9"/>
          <p:cNvSpPr txBox="1"/>
          <p:nvPr/>
        </p:nvSpPr>
        <p:spPr>
          <a:xfrm>
            <a:off x="9810452" y="4476750"/>
            <a:ext cx="876895"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Dispute Reso</a:t>
            </a:r>
          </a:p>
        </p:txBody>
      </p:sp>
      <p:sp>
        <p:nvSpPr>
          <p:cNvPr id="11" name="TextBox 10"/>
          <p:cNvSpPr txBox="1"/>
          <p:nvPr/>
        </p:nvSpPr>
        <p:spPr>
          <a:xfrm>
            <a:off x="9786044" y="4704903"/>
            <a:ext cx="925710"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UAE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fac76931-c09b-4ba6-a414-31c645699e42.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a:t>
            </a:r>
            <a:r>
              <a:rPr i="0" sz="4500" b="1">
                <a:solidFill>
                  <a:srgbClr val="111827"/>
                </a:solidFill>
                <a:latin typeface="Poppins"/>
              </a:rPr>
              <a:t>&amp;</a:t>
            </a:r>
            <a:r>
              <a:rPr i="0" sz="4500" b="1">
                <a:solidFill>
                  <a:srgbClr val="111827"/>
                </a:solidFill>
                <a:latin typeface="Poppins"/>
              </a:rPr>
              <a:t> Third-</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3f25d931-65b7-4168-af24-9720e3829712.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Avail</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availability may be suspended or restricted without notice.</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Avail</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availability may be suspended or restricted without notice.</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Avail</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availability may be suspended or restricted without notice.</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Website Avail</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availability may be suspended or restricted without notice.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