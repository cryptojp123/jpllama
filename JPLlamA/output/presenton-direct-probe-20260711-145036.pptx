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introduces the Direct Presenton API Probe, validating the end-to-end workflow from creation to export. Key objectives include demonstrating API functionality, ensuring data accuracy, and confirming export reliability. All steps are automated to ensure consistency and efficiency in content generation. Presenter: [Your Name], Date: 2026-07-11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demonstrates an automated workflow with four interconnected stages. The system validates input data, formats content, produces slides with automated styling, and exports final outputs in multiple formats. All stages operate seamlessly without manual intervention, ensuring consistency and efficiency in the production process.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838200" y="1752600"/>
            <a:ext cx="4876800" cy="3048000"/>
          </a:xfrm>
          <a:prstGeom prst="roundRect">
            <a:avLst>
              <a:gd name="adj" fmla="val 5000"/>
            </a:avLst>
          </a:prstGeom>
          <a:solidFill>
            <a:srgbClr val="FFFFFF"/>
          </a:solidFill>
          <a:ln>
            <a:noFill/>
          </a:ln>
          <a:effectLst>
            <a:outerShdw blurRad="142875" dir="5400000" dist="95250" rotWithShape="0">
              <a:srgbClr val="000000">
                <a:alpha val="102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3" name="Picture 2" descr="3374602f-e8f0-4ce1-80b5-260a7d03cf3e.png"/>
          <p:cNvPicPr>
            <a:picLocks noChangeAspect="1"/>
          </p:cNvPicPr>
          <p:nvPr/>
        </p:nvPicPr>
        <p:blipFill>
          <a:blip r:embed="rId3"/>
          <a:stretch>
            <a:fillRect/>
          </a:stretch>
        </p:blipFill>
        <p:spPr>
          <a:xfrm>
            <a:off x="838200" y="1752600"/>
            <a:ext cx="4876800" cy="3048000"/>
          </a:xfrm>
          <a:prstGeom prst="rect">
            <a:avLst/>
          </a:prstGeom>
        </p:spPr>
      </p:pic>
      <p:sp>
        <p:nvSpPr>
          <p:cNvPr id="4" name="TextBox 3"/>
          <p:cNvSpPr txBox="1"/>
          <p:nvPr/>
        </p:nvSpPr>
        <p:spPr>
          <a:xfrm>
            <a:off x="6400800" y="1924050"/>
            <a:ext cx="5067300" cy="11430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4500" b="1">
                <a:solidFill>
                  <a:srgbClr val="111827"/>
                </a:solidFill>
                <a:latin typeface="Poppins"/>
              </a:defRPr>
            </a:pPr>
            <a:r>
              <a:rPr i="0" sz="4500" b="1">
                <a:solidFill>
                  <a:srgbClr val="111827"/>
                </a:solidFill>
                <a:latin typeface="Poppins"/>
              </a:rPr>
              <a:t>Direct API Probe</a:t>
            </a:r>
          </a:p>
        </p:txBody>
      </p:sp>
      <p:sp>
        <p:nvSpPr>
          <p:cNvPr id="5" name="Rectangle 4"/>
          <p:cNvSpPr/>
          <p:nvPr/>
        </p:nvSpPr>
        <p:spPr>
          <a:xfrm>
            <a:off x="6400800" y="3295650"/>
            <a:ext cx="762000" cy="38100"/>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TextBox 5"/>
          <p:cNvSpPr txBox="1"/>
          <p:nvPr/>
        </p:nvSpPr>
        <p:spPr>
          <a:xfrm>
            <a:off x="6400800" y="3562350"/>
            <a:ext cx="5067300" cy="10668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9200"/>
              </a:lnSpc>
              <a:defRPr i="0" sz="1350" b="0">
                <a:solidFill>
                  <a:srgbClr val="4B5563"/>
                </a:solidFill>
                <a:latin typeface="Poppins"/>
              </a:defRPr>
            </a:pPr>
            <a:r>
              <a:rPr i="0" sz="1350" b="0">
                <a:solidFill>
                  <a:srgbClr val="4B5563"/>
                </a:solidFill>
                <a:latin typeface="Poppins"/>
              </a:rPr>
              <a:t>This session validates the end-to-end workflow from creation to export. Key objectives: demonstrate API functionality, ensure data accuracy, and confirm export reliability. Automated steps ensure consistency </a:t>
            </a:r>
            <a:r>
              <a:rPr i="0" sz="1350" b="0">
                <a:solidFill>
                  <a:srgbClr val="4B5563"/>
                </a:solidFill>
                <a:latin typeface="Poppins"/>
              </a:rPr>
              <a:t>&amp;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62000" y="457200"/>
            <a:ext cx="10706100" cy="5715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64000"/>
              </a:lnSpc>
              <a:defRPr i="0" sz="4500" b="1">
                <a:solidFill>
                  <a:srgbClr val="111827"/>
                </a:solidFill>
                <a:latin typeface="Poppins"/>
              </a:defRPr>
            </a:pPr>
            <a:r>
              <a:rPr i="0" sz="4500" b="1">
                <a:solidFill>
                  <a:srgbClr val="111827"/>
                </a:solidFill>
                <a:latin typeface="Poppins"/>
              </a:rPr>
              <a:t>Workf</a:t>
            </a:r>
          </a:p>
        </p:txBody>
      </p:sp>
      <p:pic>
        <p:nvPicPr>
          <p:cNvPr id="3" name="Picture 2" descr="1474a858-9dee-4559-84c2-d06e7eb8413e.png"/>
          <p:cNvPicPr>
            <a:picLocks noChangeAspect="1"/>
          </p:cNvPicPr>
          <p:nvPr/>
        </p:nvPicPr>
        <p:blipFill>
          <a:blip r:embed="rId3"/>
          <a:stretch>
            <a:fillRect/>
          </a:stretch>
        </p:blipFill>
        <p:spPr>
          <a:xfrm>
            <a:off x="762000" y="1333500"/>
            <a:ext cx="5029200" cy="5219700"/>
          </a:xfrm>
          <a:prstGeom prst="rect">
            <a:avLst/>
          </a:prstGeom>
        </p:spPr>
      </p:pic>
      <p:pic>
        <p:nvPicPr>
          <p:cNvPr id="4" name="Picture 3" descr="d6da3da5-b226-4f92-8512-28b64ce7a022.png"/>
          <p:cNvPicPr>
            <a:picLocks noChangeAspect="1"/>
          </p:cNvPicPr>
          <p:nvPr/>
        </p:nvPicPr>
        <p:blipFill>
          <a:blip r:embed="rId4"/>
          <a:stretch>
            <a:fillRect/>
          </a:stretch>
        </p:blipFill>
        <p:spPr>
          <a:xfrm>
            <a:off x="5257800" y="2095500"/>
            <a:ext cx="228600" cy="228600"/>
          </a:xfrm>
          <a:prstGeom prst="rect">
            <a:avLst/>
          </a:prstGeom>
        </p:spPr>
      </p:pic>
      <p:sp>
        <p:nvSpPr>
          <p:cNvPr id="5" name="Rounded Rectangle 4"/>
          <p:cNvSpPr/>
          <p:nvPr/>
        </p:nvSpPr>
        <p:spPr>
          <a:xfrm>
            <a:off x="1143000" y="2419350"/>
            <a:ext cx="4267200" cy="3048000"/>
          </a:xfrm>
          <a:prstGeom prst="roundRect">
            <a:avLst>
              <a:gd name="adj" fmla="val 5000"/>
            </a:avLst>
          </a:prstGeom>
          <a:solidFill>
            <a:srgbClr val="FFFFFF"/>
          </a:solidFill>
          <a:ln>
            <a:noFill/>
          </a:ln>
          <a:effectLst>
            <a:outerShdw blurRad="142875" dir="5400000" dist="95250" rotWithShape="0">
              <a:srgbClr val="000000">
                <a:alpha val="102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6" name="Picture 5" descr="48972177-ef7c-4455-9ffe-f7cebc895926.png"/>
          <p:cNvPicPr>
            <a:picLocks noChangeAspect="1"/>
          </p:cNvPicPr>
          <p:nvPr/>
        </p:nvPicPr>
        <p:blipFill>
          <a:blip r:embed="rId5"/>
          <a:stretch>
            <a:fillRect/>
          </a:stretch>
        </p:blipFill>
        <p:spPr>
          <a:xfrm>
            <a:off x="1143000" y="2419350"/>
            <a:ext cx="4267200" cy="3048000"/>
          </a:xfrm>
          <a:prstGeom prst="rect">
            <a:avLst/>
          </a:prstGeom>
        </p:spPr>
      </p:pic>
      <p:sp>
        <p:nvSpPr>
          <p:cNvPr id="7" name="TextBox 6"/>
          <p:cNvSpPr txBox="1"/>
          <p:nvPr/>
        </p:nvSpPr>
        <p:spPr>
          <a:xfrm>
            <a:off x="6400800" y="2286000"/>
            <a:ext cx="5067300" cy="838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350" b="0">
                <a:solidFill>
                  <a:srgbClr val="4B5563"/>
                </a:solidFill>
                <a:latin typeface="Poppins"/>
              </a:defRPr>
            </a:pPr>
            <a:r>
              <a:rPr i="0" sz="1350" b="0">
                <a:solidFill>
                  <a:srgbClr val="4B5563"/>
                </a:solidFill>
                <a:latin typeface="Poppins"/>
              </a:rPr>
              <a:t>1. Create: Input data is structured and validated. 2. Prepare: Content is formatted and optimized. 3. Generate: Slides are 4</a:t>
            </a:r>
          </a:p>
        </p:txBody>
      </p:sp>
      <p:sp>
        <p:nvSpPr>
          <p:cNvPr id="8" name="Rounded Rectangle 7"/>
          <p:cNvSpPr/>
          <p:nvPr/>
        </p:nvSpPr>
        <p:spPr>
          <a:xfrm>
            <a:off x="6400800" y="3429000"/>
            <a:ext cx="457200" cy="457200"/>
          </a:xfrm>
          <a:prstGeom prst="roundRect">
            <a:avLst>
              <a:gd name="adj" fmla="val 15000"/>
            </a:avLst>
          </a:prstGeom>
          <a:solidFill>
            <a:srgbClr val="9333EA"/>
          </a:solidFill>
          <a:ln>
            <a:noFill/>
          </a:ln>
          <a:effectLst>
            <a:outerShdw blurRad="57150" dir="5400000" dist="38100" rotWithShape="0">
              <a:srgbClr val="000000">
                <a:alpha val="102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9" name="Picture 8" descr="8ab746c6-2272-4be9-ae80-d21281119016.png"/>
          <p:cNvPicPr>
            <a:picLocks noChangeAspect="1"/>
          </p:cNvPicPr>
          <p:nvPr/>
        </p:nvPicPr>
        <p:blipFill>
          <a:blip r:embed="rId6"/>
          <a:stretch>
            <a:fillRect/>
          </a:stretch>
        </p:blipFill>
        <p:spPr>
          <a:xfrm>
            <a:off x="6515100" y="3543300"/>
            <a:ext cx="228600" cy="228600"/>
          </a:xfrm>
          <a:prstGeom prst="rect">
            <a:avLst/>
          </a:prstGeom>
        </p:spPr>
      </p:pic>
      <p:sp>
        <p:nvSpPr>
          <p:cNvPr id="10" name="TextBox 9"/>
          <p:cNvSpPr txBox="1"/>
          <p:nvPr/>
        </p:nvSpPr>
        <p:spPr>
          <a:xfrm>
            <a:off x="7010400" y="3429000"/>
            <a:ext cx="4457700" cy="2667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9600"/>
              </a:lnSpc>
              <a:defRPr i="0" sz="1500" b="0">
                <a:solidFill>
                  <a:srgbClr val="111827"/>
                </a:solidFill>
                <a:latin typeface="Poppins"/>
              </a:defRPr>
            </a:pPr>
            <a:r>
              <a:rPr i="0" sz="1500" b="0">
                <a:solidFill>
                  <a:srgbClr val="111827"/>
                </a:solidFill>
                <a:latin typeface="Poppins"/>
              </a:rPr>
              <a:t>Generate</a:t>
            </a:r>
          </a:p>
        </p:txBody>
      </p:sp>
      <p:sp>
        <p:nvSpPr>
          <p:cNvPr id="11" name="Rectangle 10"/>
          <p:cNvSpPr/>
          <p:nvPr/>
        </p:nvSpPr>
        <p:spPr>
          <a:xfrm>
            <a:off x="7010400" y="3771900"/>
            <a:ext cx="457200" cy="19050"/>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7010400" y="3905250"/>
            <a:ext cx="4457700" cy="4953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Automated content placement with styling ensures visual consistency across all stages</a:t>
            </a:r>
          </a:p>
        </p:txBody>
      </p:sp>
      <p:sp>
        <p:nvSpPr>
          <p:cNvPr id="13" name="Rounded Rectangle 12"/>
          <p:cNvSpPr/>
          <p:nvPr/>
        </p:nvSpPr>
        <p:spPr>
          <a:xfrm>
            <a:off x="6400800" y="4629150"/>
            <a:ext cx="457200" cy="457200"/>
          </a:xfrm>
          <a:prstGeom prst="roundRect">
            <a:avLst>
              <a:gd name="adj" fmla="val 15000"/>
            </a:avLst>
          </a:prstGeom>
          <a:solidFill>
            <a:srgbClr val="9333EA"/>
          </a:solidFill>
          <a:ln>
            <a:noFill/>
          </a:ln>
          <a:effectLst>
            <a:outerShdw blurRad="57150" dir="5400000" dist="38100" rotWithShape="0">
              <a:srgbClr val="000000">
                <a:alpha val="102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4" name="Picture 13" descr="8ab746c6-2272-4be9-ae80-d21281119016.png"/>
          <p:cNvPicPr>
            <a:picLocks noChangeAspect="1"/>
          </p:cNvPicPr>
          <p:nvPr/>
        </p:nvPicPr>
        <p:blipFill>
          <a:blip r:embed="rId6"/>
          <a:stretch>
            <a:fillRect/>
          </a:stretch>
        </p:blipFill>
        <p:spPr>
          <a:xfrm>
            <a:off x="6515100" y="4743450"/>
            <a:ext cx="228600" cy="228600"/>
          </a:xfrm>
          <a:prstGeom prst="rect">
            <a:avLst/>
          </a:prstGeom>
        </p:spPr>
      </p:pic>
      <p:sp>
        <p:nvSpPr>
          <p:cNvPr id="15" name="TextBox 14"/>
          <p:cNvSpPr txBox="1"/>
          <p:nvPr/>
        </p:nvSpPr>
        <p:spPr>
          <a:xfrm>
            <a:off x="7010400" y="4629150"/>
            <a:ext cx="4457700" cy="2667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9600"/>
              </a:lnSpc>
              <a:defRPr i="0" sz="1500" b="0">
                <a:solidFill>
                  <a:srgbClr val="111827"/>
                </a:solidFill>
                <a:latin typeface="Poppins"/>
              </a:defRPr>
            </a:pPr>
            <a:r>
              <a:rPr i="0" sz="1500" b="0">
                <a:solidFill>
                  <a:srgbClr val="111827"/>
                </a:solidFill>
                <a:latin typeface="Poppins"/>
              </a:rPr>
              <a:t>Export</a:t>
            </a:r>
          </a:p>
        </p:txBody>
      </p:sp>
      <p:sp>
        <p:nvSpPr>
          <p:cNvPr id="16" name="Rectangle 15"/>
          <p:cNvSpPr/>
          <p:nvPr/>
        </p:nvSpPr>
        <p:spPr>
          <a:xfrm>
            <a:off x="7010400" y="4972050"/>
            <a:ext cx="457200" cy="19050"/>
          </a:xfrm>
          <a:prstGeom prst="rect">
            <a:avLst/>
          </a:prstGeom>
          <a:solidFill>
            <a:srgbClr val="9333EA"/>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TextBox 16"/>
          <p:cNvSpPr txBox="1"/>
          <p:nvPr/>
        </p:nvSpPr>
        <p:spPr>
          <a:xfrm>
            <a:off x="7010400" y="5105400"/>
            <a:ext cx="4457700" cy="4953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04000"/>
              </a:lnSpc>
              <a:defRPr i="0" sz="1200" b="0">
                <a:solidFill>
                  <a:srgbClr val="4B5563"/>
                </a:solidFill>
                <a:latin typeface="Poppins"/>
              </a:defRPr>
            </a:pPr>
            <a:r>
              <a:rPr i="0" sz="1200" b="0">
                <a:solidFill>
                  <a:srgbClr val="4B5563"/>
                </a:solidFill>
                <a:latin typeface="Poppins"/>
              </a:rPr>
              <a:t>Export final output in PDF/PPTX formats while preserving metadata integrity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