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establishes the scope of the DP World Documentation Centre presentation, emphasizing governance frameworks, legal compliance under UAE law, and user responsibilities for accessing resources. It sets the stage for discussing operational standards, dispute resolution mechanisms, and contractual obligations.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critical legal requirements for DP World users. Emphasize UAE law's role in dispute resolution, the mandatory Acceptable Use Policy compliance, and strict enforcement of intellectual property rights. Highlight the need for user acknowledgment of ownership and prohibition against unauthorized content use.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key website policies: 1) Unannounced updates may affect service availability 2) Printing restrictions apply to single-page documents 3) Service terms can be modified at any time 4) No liability is assumed for user disruptions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establishes IP ownership framework for Documentation Centre. DP World maintains ownership of all content, while users retain rights to their submissions. Key protections include non-exclusive usage rights for DP World and user liability for breaches of terms, including unauthorized distribution or third-party infringement.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838200" y="1752600"/>
            <a:ext cx="4876800" cy="3048000"/>
          </a:xfrm>
          <a:prstGeom prst="roundRect">
            <a:avLst>
              <a:gd name="adj" fmla="val 5000"/>
            </a:avLst>
          </a:prstGeom>
          <a:solidFill>
            <a:srgbClr val="FFFFFF"/>
          </a:solidFill>
          <a:ln>
            <a:noFill/>
          </a:ln>
          <a:effectLst>
            <a:outerShdw blurRad="142875" dir="5400000" dist="9525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ab69bb15-4f97-4137-a0a6-939bdf460bb9.png"/>
          <p:cNvPicPr>
            <a:picLocks noChangeAspect="1"/>
          </p:cNvPicPr>
          <p:nvPr/>
        </p:nvPicPr>
        <p:blipFill>
          <a:blip r:embed="rId3"/>
          <a:stretch>
            <a:fillRect/>
          </a:stretch>
        </p:blipFill>
        <p:spPr>
          <a:xfrm>
            <a:off x="838200" y="1752600"/>
            <a:ext cx="4876800" cy="3048000"/>
          </a:xfrm>
          <a:prstGeom prst="rect">
            <a:avLst/>
          </a:prstGeom>
        </p:spPr>
      </p:pic>
      <p:sp>
        <p:nvSpPr>
          <p:cNvPr id="4" name="TextBox 3"/>
          <p:cNvSpPr txBox="1"/>
          <p:nvPr/>
        </p:nvSpPr>
        <p:spPr>
          <a:xfrm>
            <a:off x="6400800" y="1924050"/>
            <a:ext cx="5067300" cy="1143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DP World Docs </a:t>
            </a:r>
            <a:r>
              <a:rPr i="0" sz="4500" b="1">
                <a:solidFill>
                  <a:srgbClr val="111827"/>
                </a:solidFill>
                <a:latin typeface="Poppins"/>
              </a:rPr>
              <a:t>&amp;</a:t>
            </a:r>
          </a:p>
        </p:txBody>
      </p:sp>
      <p:sp>
        <p:nvSpPr>
          <p:cNvPr id="5" name="Rectangle 4"/>
          <p:cNvSpPr/>
          <p:nvPr/>
        </p:nvSpPr>
        <p:spPr>
          <a:xfrm>
            <a:off x="6400800" y="3295650"/>
            <a:ext cx="7620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400800" y="3562350"/>
            <a:ext cx="5067300" cy="1066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4B5563"/>
                </a:solidFill>
                <a:latin typeface="Poppins"/>
              </a:defRPr>
            </a:pPr>
            <a:r>
              <a:rPr i="0" sz="1350" b="0">
                <a:solidFill>
                  <a:srgbClr val="4B5563"/>
                </a:solidFill>
                <a:latin typeface="Poppins"/>
              </a:rPr>
              <a:t>This presentation outlines governance, legal frameworks, and operational standards for DP World's documentation centre. Key topics include UAE law dispute resolution, website policies, IP guidelines, user责任, 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pic>
        <p:nvPicPr>
          <p:cNvPr id="2" name="Picture 1" descr="4680ceba-771c-48f5-8c72-8721cb472ed7.png"/>
          <p:cNvPicPr>
            <a:picLocks noChangeAspect="1"/>
          </p:cNvPicPr>
          <p:nvPr/>
        </p:nvPicPr>
        <p:blipFill>
          <a:blip r:embed="rId3"/>
          <a:stretch>
            <a:fillRect/>
          </a:stretch>
        </p:blipFill>
        <p:spPr>
          <a:xfrm>
            <a:off x="0" y="5029200"/>
            <a:ext cx="1828800" cy="1828800"/>
          </a:xfrm>
          <a:prstGeom prst="rect">
            <a:avLst/>
          </a:prstGeom>
        </p:spPr>
      </p:pic>
      <p:pic>
        <p:nvPicPr>
          <p:cNvPr id="3" name="Picture 2" descr="47675214-6760-4857-950a-ce4b43483933.png"/>
          <p:cNvPicPr>
            <a:picLocks noChangeAspect="1"/>
          </p:cNvPicPr>
          <p:nvPr/>
        </p:nvPicPr>
        <p:blipFill>
          <a:blip r:embed="rId4"/>
          <a:stretch>
            <a:fillRect/>
          </a:stretch>
        </p:blipFill>
        <p:spPr>
          <a:xfrm>
            <a:off x="9753600" y="0"/>
            <a:ext cx="2438400" cy="2438400"/>
          </a:xfrm>
          <a:prstGeom prst="rect">
            <a:avLst/>
          </a:prstGeom>
        </p:spPr>
      </p:pic>
      <p:sp>
        <p:nvSpPr>
          <p:cNvPr id="4" name="Rounded Rectangle 3"/>
          <p:cNvSpPr/>
          <p:nvPr/>
        </p:nvSpPr>
        <p:spPr>
          <a:xfrm>
            <a:off x="838200" y="1676400"/>
            <a:ext cx="4876800" cy="3657600"/>
          </a:xfrm>
          <a:prstGeom prst="roundRect">
            <a:avLst>
              <a:gd name="adj" fmla="val 4687"/>
            </a:avLst>
          </a:prstGeom>
          <a:solidFill>
            <a:srgbClr val="FFFFFF"/>
          </a:solidFill>
          <a:ln>
            <a:noFill/>
          </a:ln>
          <a:effectLst>
            <a:outerShdw blurRad="142875" dir="5400000" dist="9525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5" name="Picture 4" descr="c76479be-7a2d-4470-8efc-1d89e74cf29a.png"/>
          <p:cNvPicPr>
            <a:picLocks noChangeAspect="1"/>
          </p:cNvPicPr>
          <p:nvPr/>
        </p:nvPicPr>
        <p:blipFill>
          <a:blip r:embed="rId5"/>
          <a:stretch>
            <a:fillRect/>
          </a:stretch>
        </p:blipFill>
        <p:spPr>
          <a:xfrm>
            <a:off x="838200" y="2133004"/>
            <a:ext cx="4876800" cy="2744390"/>
          </a:xfrm>
          <a:prstGeom prst="rect">
            <a:avLst/>
          </a:prstGeom>
        </p:spPr>
      </p:pic>
      <p:sp>
        <p:nvSpPr>
          <p:cNvPr id="6" name="TextBox 5"/>
          <p:cNvSpPr txBox="1"/>
          <p:nvPr/>
        </p:nvSpPr>
        <p:spPr>
          <a:xfrm>
            <a:off x="6400800" y="1781175"/>
            <a:ext cx="5067300" cy="12001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Legal Framework</a:t>
            </a:r>
          </a:p>
        </p:txBody>
      </p:sp>
      <p:sp>
        <p:nvSpPr>
          <p:cNvPr id="7" name="TextBox 6"/>
          <p:cNvSpPr txBox="1"/>
          <p:nvPr/>
        </p:nvSpPr>
        <p:spPr>
          <a:xfrm>
            <a:off x="6400800" y="3181350"/>
            <a:ext cx="5067300" cy="1066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4B5563"/>
                </a:solidFill>
                <a:latin typeface="Poppins"/>
              </a:defRPr>
            </a:pPr>
            <a:r>
              <a:rPr i="0" sz="1350" b="0">
                <a:solidFill>
                  <a:srgbClr val="4B5563"/>
                </a:solidFill>
                <a:latin typeface="Poppins"/>
              </a:rPr>
              <a:t>The DP World Documentation Centre operates under UAE law for dispute resolution. Users must comply with the Acceptable Use Policy, prohibiting unauthorized linking/content use. Legal IP</a:t>
            </a:r>
          </a:p>
        </p:txBody>
      </p:sp>
      <p:sp>
        <p:nvSpPr>
          <p:cNvPr id="8" name="TextBox 7"/>
          <p:cNvSpPr txBox="1"/>
          <p:nvPr/>
        </p:nvSpPr>
        <p:spPr>
          <a:xfrm>
            <a:off x="6996410" y="4476750"/>
            <a:ext cx="1247030" cy="151953"/>
          </a:xfrm>
          <a:prstGeom prst="rect">
            <a:avLst/>
          </a:prstGeom>
          <a:noFill/>
          <a:ln>
            <a:noFill/>
          </a:ln>
          <a:effectLst>
            <a:outerShdw blurRad="0" dist="0" dir="0">
              <a:srgbClr val="000000">
                <a:alpha val="0"/>
              </a:srgbClr>
            </a:outerShdw>
          </a:effectLst>
        </p:spPr>
        <p:txBody>
          <a:bodyPr wrap="square" anchor="ctr" lIns="0" rIns="0" tIns="0" bIns="0">
            <a:spAutoFit/>
          </a:bodyPr>
          <a:lstStyle/>
          <a:p>
            <a:pPr algn="ctr">
              <a:lnSpc>
                <a:spcPct val="91200"/>
              </a:lnSpc>
              <a:defRPr i="0" sz="1050" b="0">
                <a:solidFill>
                  <a:srgbClr val="4B5563"/>
                </a:solidFill>
                <a:latin typeface="Poppins"/>
              </a:defRPr>
            </a:pPr>
            <a:r>
              <a:rPr i="0" sz="1050" b="0">
                <a:solidFill>
                  <a:srgbClr val="4B5563"/>
                </a:solidFill>
                <a:latin typeface="Poppins"/>
              </a:rPr>
              <a:t>Dispute Resolution</a:t>
            </a:r>
          </a:p>
        </p:txBody>
      </p:sp>
      <p:sp>
        <p:nvSpPr>
          <p:cNvPr id="9" name="TextBox 8"/>
          <p:cNvSpPr txBox="1"/>
          <p:nvPr/>
        </p:nvSpPr>
        <p:spPr>
          <a:xfrm>
            <a:off x="7157144" y="4704903"/>
            <a:ext cx="925710" cy="365670"/>
          </a:xfrm>
          <a:prstGeom prst="rect">
            <a:avLst/>
          </a:prstGeom>
          <a:noFill/>
          <a:ln>
            <a:noFill/>
          </a:ln>
          <a:effectLst>
            <a:outerShdw blurRad="0" dist="0" dir="0">
              <a:srgbClr val="000000">
                <a:alpha val="0"/>
              </a:srgbClr>
            </a:outerShdw>
          </a:effectLst>
        </p:spPr>
        <p:txBody>
          <a:bodyPr wrap="square" anchor="ctr" lIns="0" rIns="0" tIns="0" bIns="0">
            <a:spAutoFit/>
          </a:bodyPr>
          <a:lstStyle/>
          <a:p>
            <a:pPr algn="ctr">
              <a:lnSpc>
                <a:spcPct val="64000"/>
              </a:lnSpc>
              <a:defRPr i="0" sz="3600" b="1">
                <a:solidFill>
                  <a:srgbClr val="9333EA"/>
                </a:solidFill>
                <a:latin typeface="Poppins"/>
              </a:defRPr>
            </a:pPr>
            <a:r>
              <a:rPr i="0" sz="3600" b="1">
                <a:solidFill>
                  <a:srgbClr val="9333EA"/>
                </a:solidFill>
                <a:latin typeface="Poppins"/>
              </a:rPr>
              <a:t>UAE</a:t>
            </a:r>
          </a:p>
        </p:txBody>
      </p:sp>
      <p:sp>
        <p:nvSpPr>
          <p:cNvPr id="10" name="TextBox 9"/>
          <p:cNvSpPr txBox="1"/>
          <p:nvPr/>
        </p:nvSpPr>
        <p:spPr>
          <a:xfrm>
            <a:off x="9619208" y="4476750"/>
            <a:ext cx="1259383" cy="151953"/>
          </a:xfrm>
          <a:prstGeom prst="rect">
            <a:avLst/>
          </a:prstGeom>
          <a:noFill/>
          <a:ln>
            <a:noFill/>
          </a:ln>
          <a:effectLst>
            <a:outerShdw blurRad="0" dist="0" dir="0">
              <a:srgbClr val="000000">
                <a:alpha val="0"/>
              </a:srgbClr>
            </a:outerShdw>
          </a:effectLst>
        </p:spPr>
        <p:txBody>
          <a:bodyPr wrap="square" anchor="ctr" lIns="0" rIns="0" tIns="0" bIns="0">
            <a:spAutoFit/>
          </a:bodyPr>
          <a:lstStyle/>
          <a:p>
            <a:pPr algn="ctr">
              <a:lnSpc>
                <a:spcPct val="91200"/>
              </a:lnSpc>
              <a:defRPr i="0" sz="1050" b="0">
                <a:solidFill>
                  <a:srgbClr val="4B5563"/>
                </a:solidFill>
                <a:latin typeface="Poppins"/>
              </a:defRPr>
            </a:pPr>
            <a:r>
              <a:rPr i="0" sz="1050" b="0">
                <a:solidFill>
                  <a:srgbClr val="4B5563"/>
                </a:solidFill>
                <a:latin typeface="Poppins"/>
              </a:rPr>
              <a:t>Policy Compliance</a:t>
            </a:r>
          </a:p>
        </p:txBody>
      </p:sp>
      <p:sp>
        <p:nvSpPr>
          <p:cNvPr id="11" name="TextBox 10"/>
          <p:cNvSpPr txBox="1"/>
          <p:nvPr/>
        </p:nvSpPr>
        <p:spPr>
          <a:xfrm>
            <a:off x="9564885" y="4704903"/>
            <a:ext cx="1367879" cy="365670"/>
          </a:xfrm>
          <a:prstGeom prst="rect">
            <a:avLst/>
          </a:prstGeom>
          <a:noFill/>
          <a:ln>
            <a:noFill/>
          </a:ln>
          <a:effectLst>
            <a:outerShdw blurRad="0" dist="0" dir="0">
              <a:srgbClr val="000000">
                <a:alpha val="0"/>
              </a:srgbClr>
            </a:outerShdw>
          </a:effectLst>
        </p:spPr>
        <p:txBody>
          <a:bodyPr wrap="square" anchor="ctr" lIns="0" rIns="0" tIns="0" bIns="0">
            <a:spAutoFit/>
          </a:bodyPr>
          <a:lstStyle/>
          <a:p>
            <a:pPr algn="ctr">
              <a:lnSpc>
                <a:spcPct val="64000"/>
              </a:lnSpc>
              <a:defRPr i="0" sz="3600" b="1">
                <a:solidFill>
                  <a:srgbClr val="9333EA"/>
                </a:solidFill>
                <a:latin typeface="Poppins"/>
              </a:defRPr>
            </a:pPr>
            <a:r>
              <a:rPr i="0" sz="3600" b="1">
                <a:solidFill>
                  <a:srgbClr val="9333EA"/>
                </a:solidFill>
                <a:latin typeface="Poppins"/>
              </a:rPr>
              <a:t>Mand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pic>
        <p:nvPicPr>
          <p:cNvPr id="2" name="Picture 1" descr="bc48e000-db16-4086-b8f9-cddf059841c7.png"/>
          <p:cNvPicPr>
            <a:picLocks noChangeAspect="1"/>
          </p:cNvPicPr>
          <p:nvPr/>
        </p:nvPicPr>
        <p:blipFill>
          <a:blip r:embed="rId3"/>
          <a:stretch>
            <a:fillRect/>
          </a:stretch>
        </p:blipFill>
        <p:spPr>
          <a:xfrm>
            <a:off x="0" y="6096000"/>
            <a:ext cx="12192000" cy="762000"/>
          </a:xfrm>
          <a:prstGeom prst="rect">
            <a:avLst/>
          </a:prstGeom>
        </p:spPr>
      </p:pic>
      <p:sp>
        <p:nvSpPr>
          <p:cNvPr id="3" name="TextBox 2"/>
          <p:cNvSpPr txBox="1"/>
          <p:nvPr/>
        </p:nvSpPr>
        <p:spPr>
          <a:xfrm>
            <a:off x="762000" y="457200"/>
            <a:ext cx="7353300"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WebsiteOperations</a:t>
            </a:r>
          </a:p>
        </p:txBody>
      </p:sp>
      <p:sp>
        <p:nvSpPr>
          <p:cNvPr id="4" name="Rectangle 3"/>
          <p:cNvSpPr/>
          <p:nvPr/>
        </p:nvSpPr>
        <p:spPr>
          <a:xfrm>
            <a:off x="762000" y="1181100"/>
            <a:ext cx="9144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5" name="Picture 4" descr="58ef1674-53d4-4b96-a6bb-5f458df81ca9.png"/>
          <p:cNvPicPr>
            <a:picLocks noChangeAspect="1"/>
          </p:cNvPicPr>
          <p:nvPr/>
        </p:nvPicPr>
        <p:blipFill>
          <a:blip r:embed="rId4"/>
          <a:stretch>
            <a:fillRect/>
          </a:stretch>
        </p:blipFill>
        <p:spPr>
          <a:xfrm>
            <a:off x="8382000" y="457200"/>
            <a:ext cx="3048000" cy="1828800"/>
          </a:xfrm>
          <a:prstGeom prst="rect">
            <a:avLst/>
          </a:prstGeom>
        </p:spPr>
      </p:pic>
      <p:sp>
        <p:nvSpPr>
          <p:cNvPr id="6" name="TextBox 5"/>
          <p:cNvSpPr txBox="1"/>
          <p:nvPr/>
        </p:nvSpPr>
        <p:spPr>
          <a:xfrm>
            <a:off x="762000" y="2590800"/>
            <a:ext cx="508248"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7" name="TextBox 6"/>
          <p:cNvSpPr txBox="1"/>
          <p:nvPr/>
        </p:nvSpPr>
        <p:spPr>
          <a:xfrm>
            <a:off x="1384548" y="2667000"/>
            <a:ext cx="4597003"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Website Updates </a:t>
            </a:r>
            <a:r>
              <a:rPr i="0" sz="1800" b="1">
                <a:solidFill>
                  <a:srgbClr val="111827"/>
                </a:solidFill>
                <a:latin typeface="Poppins"/>
              </a:rPr>
              <a:t>&amp;</a:t>
            </a:r>
          </a:p>
        </p:txBody>
      </p:sp>
      <p:sp>
        <p:nvSpPr>
          <p:cNvPr id="8" name="TextBox 7"/>
          <p:cNvSpPr txBox="1"/>
          <p:nvPr/>
        </p:nvSpPr>
        <p:spPr>
          <a:xfrm>
            <a:off x="1384548" y="3086100"/>
            <a:ext cx="4597003" cy="7429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Website updates, suspensions, and content availability may change without prior notice. Users assume responsibility for any中断</a:t>
            </a:r>
          </a:p>
        </p:txBody>
      </p:sp>
      <p:sp>
        <p:nvSpPr>
          <p:cNvPr id="9" name="TextBox 8"/>
          <p:cNvSpPr txBox="1"/>
          <p:nvPr/>
        </p:nvSpPr>
        <p:spPr>
          <a:xfrm>
            <a:off x="6248400" y="2590800"/>
            <a:ext cx="597396"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10" name="TextBox 9"/>
          <p:cNvSpPr txBox="1"/>
          <p:nvPr/>
        </p:nvSpPr>
        <p:spPr>
          <a:xfrm>
            <a:off x="6960096" y="2667000"/>
            <a:ext cx="4507855"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Website Updates </a:t>
            </a:r>
            <a:r>
              <a:rPr i="0" sz="1800" b="1">
                <a:solidFill>
                  <a:srgbClr val="111827"/>
                </a:solidFill>
                <a:latin typeface="Poppins"/>
              </a:rPr>
              <a:t>&amp;</a:t>
            </a:r>
          </a:p>
        </p:txBody>
      </p:sp>
      <p:sp>
        <p:nvSpPr>
          <p:cNvPr id="11" name="TextBox 10"/>
          <p:cNvSpPr txBox="1"/>
          <p:nvPr/>
        </p:nvSpPr>
        <p:spPr>
          <a:xfrm>
            <a:off x="6960096" y="3086100"/>
            <a:ext cx="4507855"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Website updates, suspensions, and content availability may change without prior notice. Users assume responsibility for any中断</a:t>
            </a:r>
          </a:p>
        </p:txBody>
      </p:sp>
      <p:sp>
        <p:nvSpPr>
          <p:cNvPr id="12" name="TextBox 11"/>
          <p:cNvSpPr txBox="1"/>
          <p:nvPr/>
        </p:nvSpPr>
        <p:spPr>
          <a:xfrm>
            <a:off x="762000" y="4133850"/>
            <a:ext cx="612725"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13" name="TextBox 12"/>
          <p:cNvSpPr txBox="1"/>
          <p:nvPr/>
        </p:nvSpPr>
        <p:spPr>
          <a:xfrm>
            <a:off x="1489025" y="4210050"/>
            <a:ext cx="4492525"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Website Updates </a:t>
            </a:r>
            <a:r>
              <a:rPr i="0" sz="1800" b="1">
                <a:solidFill>
                  <a:srgbClr val="111827"/>
                </a:solidFill>
                <a:latin typeface="Poppins"/>
              </a:rPr>
              <a:t>&amp;</a:t>
            </a:r>
          </a:p>
        </p:txBody>
      </p:sp>
      <p:sp>
        <p:nvSpPr>
          <p:cNvPr id="14" name="TextBox 13"/>
          <p:cNvSpPr txBox="1"/>
          <p:nvPr/>
        </p:nvSpPr>
        <p:spPr>
          <a:xfrm>
            <a:off x="1489025" y="4629150"/>
            <a:ext cx="4492525"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Website updates, suspensions, and content availability may change without prior notice. Users assume responsibility for any中断</a:t>
            </a:r>
          </a:p>
        </p:txBody>
      </p:sp>
      <p:sp>
        <p:nvSpPr>
          <p:cNvPr id="15" name="TextBox 14"/>
          <p:cNvSpPr txBox="1"/>
          <p:nvPr/>
        </p:nvSpPr>
        <p:spPr>
          <a:xfrm>
            <a:off x="6248400" y="4133850"/>
            <a:ext cx="645765"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16" name="TextBox 15"/>
          <p:cNvSpPr txBox="1"/>
          <p:nvPr/>
        </p:nvSpPr>
        <p:spPr>
          <a:xfrm>
            <a:off x="7008465" y="4210050"/>
            <a:ext cx="4459485"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Website Updates </a:t>
            </a:r>
            <a:r>
              <a:rPr i="0" sz="1800" b="1">
                <a:solidFill>
                  <a:srgbClr val="111827"/>
                </a:solidFill>
                <a:latin typeface="Poppins"/>
              </a:rPr>
              <a:t>&amp;</a:t>
            </a:r>
          </a:p>
        </p:txBody>
      </p:sp>
      <p:sp>
        <p:nvSpPr>
          <p:cNvPr id="17" name="TextBox 16"/>
          <p:cNvSpPr txBox="1"/>
          <p:nvPr/>
        </p:nvSpPr>
        <p:spPr>
          <a:xfrm>
            <a:off x="7008465" y="4629150"/>
            <a:ext cx="4459485"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Website updates, suspensions, and content availability may change without prior notice. Users assume responsibility for any中断</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276225"/>
            <a:ext cx="7353300"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Intellectua</a:t>
            </a:r>
          </a:p>
        </p:txBody>
      </p:sp>
      <p:sp>
        <p:nvSpPr>
          <p:cNvPr id="3" name="TextBox 2"/>
          <p:cNvSpPr txBox="1"/>
          <p:nvPr/>
        </p:nvSpPr>
        <p:spPr>
          <a:xfrm>
            <a:off x="762000" y="1028700"/>
            <a:ext cx="7353300"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DP World retains ownership of all intellectual property on the Documentation Centre. User-submitted content remains the user</a:t>
            </a:r>
          </a:p>
        </p:txBody>
      </p:sp>
      <p:sp>
        <p:nvSpPr>
          <p:cNvPr id="4" name="Rounded Rectangle 3"/>
          <p:cNvSpPr/>
          <p:nvPr/>
        </p:nvSpPr>
        <p:spPr>
          <a:xfrm>
            <a:off x="762000" y="1828800"/>
            <a:ext cx="7315200" cy="4724400"/>
          </a:xfrm>
          <a:prstGeom prst="roundRect">
            <a:avLst>
              <a:gd name="adj" fmla="val 1209"/>
            </a:avLst>
          </a:prstGeom>
          <a:solidFill>
            <a:srgbClr val="FFFFFF"/>
          </a:solidFill>
          <a:ln w="9525">
            <a:solidFill>
              <a:srgbClr val="F8F9FA"/>
            </a:solidFill>
          </a:ln>
          <a:effectLst>
            <a:outerShdw blurRad="19050" dir="5400000" dist="9525" rotWithShape="0">
              <a:srgbClr val="000000">
                <a:alpha val="51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5" name="Picture 4" descr="4ee96291-cb69-4b37-9318-0158bb9757e2.png"/>
          <p:cNvPicPr>
            <a:picLocks noChangeAspect="1"/>
          </p:cNvPicPr>
          <p:nvPr/>
        </p:nvPicPr>
        <p:blipFill>
          <a:blip r:embed="rId3"/>
          <a:stretch>
            <a:fillRect/>
          </a:stretch>
        </p:blipFill>
        <p:spPr>
          <a:xfrm>
            <a:off x="923925" y="1990725"/>
            <a:ext cx="6991350" cy="4381500"/>
          </a:xfrm>
          <a:prstGeom prst="rect">
            <a:avLst/>
          </a:prstGeom>
        </p:spPr>
      </p:pic>
      <p:sp>
        <p:nvSpPr>
          <p:cNvPr id="6" name="Rectangle 5"/>
          <p:cNvSpPr/>
          <p:nvPr/>
        </p:nvSpPr>
        <p:spPr>
          <a:xfrm>
            <a:off x="8382000" y="971550"/>
            <a:ext cx="3048000" cy="1538287"/>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65011652-70ee-411a-9ca6-18d481db3e14.png"/>
          <p:cNvPicPr>
            <a:picLocks noChangeAspect="1"/>
          </p:cNvPicPr>
          <p:nvPr/>
        </p:nvPicPr>
        <p:blipFill>
          <a:blip r:embed="rId4"/>
          <a:stretch>
            <a:fillRect/>
          </a:stretch>
        </p:blipFill>
        <p:spPr>
          <a:xfrm>
            <a:off x="8663880" y="1377255"/>
            <a:ext cx="190500" cy="190500"/>
          </a:xfrm>
          <a:prstGeom prst="rect">
            <a:avLst/>
          </a:prstGeom>
        </p:spPr>
      </p:pic>
      <p:sp>
        <p:nvSpPr>
          <p:cNvPr id="8" name="TextBox 7"/>
          <p:cNvSpPr txBox="1"/>
          <p:nvPr/>
        </p:nvSpPr>
        <p:spPr>
          <a:xfrm>
            <a:off x="9021960" y="1200150"/>
            <a:ext cx="2217390" cy="5334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FFFFFF"/>
                </a:solidFill>
                <a:latin typeface="Poppins"/>
              </a:defRPr>
            </a:pPr>
            <a:r>
              <a:rPr i="0" sz="1350" b="0">
                <a:solidFill>
                  <a:srgbClr val="FFFFFF"/>
                </a:solidFill>
                <a:latin typeface="Poppins"/>
              </a:rPr>
              <a:t>Ownership Policy</a:t>
            </a:r>
          </a:p>
        </p:txBody>
      </p:sp>
      <p:sp>
        <p:nvSpPr>
          <p:cNvPr id="9" name="TextBox 8"/>
          <p:cNvSpPr txBox="1"/>
          <p:nvPr/>
        </p:nvSpPr>
        <p:spPr>
          <a:xfrm>
            <a:off x="8610600" y="1847850"/>
            <a:ext cx="2628900" cy="4381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050" b="0">
                <a:solidFill>
                  <a:srgbClr val="FFFFFF"/>
                </a:solidFill>
                <a:latin typeface="Poppins"/>
              </a:defRPr>
            </a:pPr>
            <a:r>
              <a:rPr i="0" sz="1050" b="0">
                <a:solidFill>
                  <a:srgbClr val="FFFFFF"/>
                </a:solidFill>
                <a:latin typeface="Poppins"/>
              </a:rPr>
              <a:t>DP World retains ownership of all intellectual property on the Docs</a:t>
            </a:r>
          </a:p>
        </p:txBody>
      </p:sp>
      <p:sp>
        <p:nvSpPr>
          <p:cNvPr id="10" name="Rectangle 9"/>
          <p:cNvSpPr/>
          <p:nvPr/>
        </p:nvSpPr>
        <p:spPr>
          <a:xfrm>
            <a:off x="8382000" y="2660749"/>
            <a:ext cx="3048000" cy="1538287"/>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1" name="Picture 10" descr="65011652-70ee-411a-9ca6-18d481db3e14.png"/>
          <p:cNvPicPr>
            <a:picLocks noChangeAspect="1"/>
          </p:cNvPicPr>
          <p:nvPr/>
        </p:nvPicPr>
        <p:blipFill>
          <a:blip r:embed="rId4"/>
          <a:stretch>
            <a:fillRect/>
          </a:stretch>
        </p:blipFill>
        <p:spPr>
          <a:xfrm>
            <a:off x="8648700" y="3066454"/>
            <a:ext cx="190500" cy="190500"/>
          </a:xfrm>
          <a:prstGeom prst="rect">
            <a:avLst/>
          </a:prstGeom>
        </p:spPr>
      </p:pic>
      <p:sp>
        <p:nvSpPr>
          <p:cNvPr id="12" name="TextBox 11"/>
          <p:cNvSpPr txBox="1"/>
          <p:nvPr/>
        </p:nvSpPr>
        <p:spPr>
          <a:xfrm>
            <a:off x="8989665" y="2889349"/>
            <a:ext cx="2249685" cy="5334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FFFFFF"/>
                </a:solidFill>
                <a:latin typeface="Poppins"/>
              </a:defRPr>
            </a:pPr>
            <a:r>
              <a:rPr i="0" sz="1350" b="0">
                <a:solidFill>
                  <a:srgbClr val="FFFFFF"/>
                </a:solidFill>
                <a:latin typeface="Poppins"/>
              </a:rPr>
              <a:t>User Rights Notice</a:t>
            </a:r>
          </a:p>
        </p:txBody>
      </p:sp>
      <p:sp>
        <p:nvSpPr>
          <p:cNvPr id="13" name="TextBox 12"/>
          <p:cNvSpPr txBox="1"/>
          <p:nvPr/>
        </p:nvSpPr>
        <p:spPr>
          <a:xfrm>
            <a:off x="8610600" y="3537049"/>
            <a:ext cx="2628900" cy="4381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050" b="0">
                <a:solidFill>
                  <a:srgbClr val="FFFFFF"/>
                </a:solidFill>
                <a:latin typeface="Poppins"/>
              </a:defRPr>
            </a:pPr>
            <a:r>
              <a:rPr i="0" sz="1050" b="0">
                <a:solidFill>
                  <a:srgbClr val="FFFFFF"/>
                </a:solidFill>
                <a:latin typeface="Poppins"/>
              </a:rPr>
              <a:t>User-submitted content remains the user’s property but grants DP W</a:t>
            </a:r>
          </a:p>
        </p:txBody>
      </p:sp>
      <p:sp>
        <p:nvSpPr>
          <p:cNvPr id="14" name="Rectangle 13"/>
          <p:cNvSpPr/>
          <p:nvPr/>
        </p:nvSpPr>
        <p:spPr>
          <a:xfrm>
            <a:off x="8382000" y="4349799"/>
            <a:ext cx="3048000" cy="1538287"/>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5" name="Picture 14" descr="65011652-70ee-411a-9ca6-18d481db3e14.png"/>
          <p:cNvPicPr>
            <a:picLocks noChangeAspect="1"/>
          </p:cNvPicPr>
          <p:nvPr/>
        </p:nvPicPr>
        <p:blipFill>
          <a:blip r:embed="rId4"/>
          <a:stretch>
            <a:fillRect/>
          </a:stretch>
        </p:blipFill>
        <p:spPr>
          <a:xfrm>
            <a:off x="8640960" y="4755505"/>
            <a:ext cx="190500" cy="190500"/>
          </a:xfrm>
          <a:prstGeom prst="rect">
            <a:avLst/>
          </a:prstGeom>
        </p:spPr>
      </p:pic>
      <p:sp>
        <p:nvSpPr>
          <p:cNvPr id="16" name="TextBox 15"/>
          <p:cNvSpPr txBox="1"/>
          <p:nvPr/>
        </p:nvSpPr>
        <p:spPr>
          <a:xfrm>
            <a:off x="8976270" y="4578399"/>
            <a:ext cx="2263080" cy="5334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FFFFFF"/>
                </a:solidFill>
                <a:latin typeface="Poppins"/>
              </a:defRPr>
            </a:pPr>
            <a:r>
              <a:rPr i="0" sz="1350" b="0">
                <a:solidFill>
                  <a:srgbClr val="FFFFFF"/>
                </a:solidFill>
                <a:latin typeface="Poppins"/>
              </a:rPr>
              <a:t>Indemnification Clause</a:t>
            </a:r>
          </a:p>
        </p:txBody>
      </p:sp>
      <p:sp>
        <p:nvSpPr>
          <p:cNvPr id="17" name="TextBox 16"/>
          <p:cNvSpPr txBox="1"/>
          <p:nvPr/>
        </p:nvSpPr>
        <p:spPr>
          <a:xfrm>
            <a:off x="8610600" y="5226099"/>
            <a:ext cx="2628900" cy="4381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050" b="0">
                <a:solidFill>
                  <a:srgbClr val="FFFFFF"/>
                </a:solidFill>
                <a:latin typeface="Poppins"/>
              </a:defRPr>
            </a:pPr>
            <a:r>
              <a:rPr i="0" sz="1050" b="0">
                <a:solidFill>
                  <a:srgbClr val="FFFFFF"/>
                </a:solidFill>
                <a:latin typeface="Poppins"/>
              </a:rPr>
              <a:t>Users must indemnify DP World against losses from breaches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