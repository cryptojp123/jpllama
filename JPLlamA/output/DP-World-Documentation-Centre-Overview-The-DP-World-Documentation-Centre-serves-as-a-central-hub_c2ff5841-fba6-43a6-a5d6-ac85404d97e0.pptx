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DP World Documentation Centre as a central hub for trade compliance and operational guidelines. It supports global logistics and supply chain efficiency through standardized resources accessible via DP World’s digital platforms. The presentation covers its role, legal framework, access policies, and user guidelines for compliance and operational efficiency.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the legal framework governing the DP World Documentation Centre. Emphasize key points: UAE law for disputes, prior approval for external content, and email contact for licensing. Highlight compliance requirements for users to avoid contractual violations.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the platform's access policy, emphasizing free dynamic access with periodic updates, potential service disruptions without prior notice, and the lack of guaranteed content retention. Visuals support key data points about access rates and service notices.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compliance requirements: personal use limits, prohibition on commercial reuse, user accountability for content, and retention of intellectual property rights by DP World.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752600"/>
            <a:ext cx="48768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92f5534c-2793-4d57-9ffd-a97e43631339.png"/>
          <p:cNvPicPr>
            <a:picLocks noChangeAspect="1"/>
          </p:cNvPicPr>
          <p:nvPr/>
        </p:nvPicPr>
        <p:blipFill>
          <a:blip r:embed="rId3"/>
          <a:stretch>
            <a:fillRect/>
          </a:stretch>
        </p:blipFill>
        <p:spPr>
          <a:xfrm>
            <a:off x="838200" y="1752600"/>
            <a:ext cx="4876800" cy="3048000"/>
          </a:xfrm>
          <a:prstGeom prst="rect">
            <a:avLst/>
          </a:prstGeom>
        </p:spPr>
      </p:pic>
      <p:sp>
        <p:nvSpPr>
          <p:cNvPr id="4" name="TextBox 3"/>
          <p:cNvSpPr txBox="1"/>
          <p:nvPr/>
        </p:nvSpPr>
        <p:spPr>
          <a:xfrm>
            <a:off x="6400800" y="1924050"/>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DP World DocsHub</a:t>
            </a:r>
          </a:p>
        </p:txBody>
      </p:sp>
      <p:sp>
        <p:nvSpPr>
          <p:cNvPr id="5" name="Rectangle 4"/>
          <p:cNvSpPr/>
          <p:nvPr/>
        </p:nvSpPr>
        <p:spPr>
          <a:xfrm>
            <a:off x="6400800" y="3295650"/>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562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Central hub for trade compliance and operational guidelines, enhancing global logistics and supply chain efficiency through standardized resources accessible via DP World’s digital platforms.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1c5d7394-7f4c-433f-9de5-cf71bb6e301c.png"/>
          <p:cNvPicPr>
            <a:picLocks noChangeAspect="1"/>
          </p:cNvPicPr>
          <p:nvPr/>
        </p:nvPicPr>
        <p:blipFill>
          <a:blip r:embed="rId3"/>
          <a:stretch>
            <a:fillRect/>
          </a:stretch>
        </p:blipFill>
        <p:spPr>
          <a:xfrm>
            <a:off x="0" y="0"/>
            <a:ext cx="2438400" cy="6858000"/>
          </a:xfrm>
          <a:prstGeom prst="rect">
            <a:avLst/>
          </a:prstGeom>
        </p:spPr>
      </p:pic>
      <p:pic>
        <p:nvPicPr>
          <p:cNvPr id="3" name="Picture 2" descr="d3650f06-1970-4fdb-814e-030ed32e1c9e.png"/>
          <p:cNvPicPr>
            <a:picLocks noChangeAspect="1"/>
          </p:cNvPicPr>
          <p:nvPr/>
        </p:nvPicPr>
        <p:blipFill>
          <a:blip r:embed="rId4"/>
          <a:stretch>
            <a:fillRect/>
          </a:stretch>
        </p:blipFill>
        <p:spPr>
          <a:xfrm>
            <a:off x="9753600" y="0"/>
            <a:ext cx="2438400" cy="6858000"/>
          </a:xfrm>
          <a:prstGeom prst="rect">
            <a:avLst/>
          </a:prstGeom>
        </p:spPr>
      </p:pic>
      <p:sp>
        <p:nvSpPr>
          <p:cNvPr id="4" name="TextBox 3"/>
          <p:cNvSpPr txBox="1"/>
          <p:nvPr/>
        </p:nvSpPr>
        <p:spPr>
          <a:xfrm>
            <a:off x="762000" y="457200"/>
            <a:ext cx="10706100" cy="5715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64000"/>
              </a:lnSpc>
              <a:defRPr i="0" sz="4500" b="1">
                <a:solidFill>
                  <a:srgbClr val="111827"/>
                </a:solidFill>
                <a:latin typeface="Poppins"/>
              </a:defRPr>
            </a:pPr>
            <a:r>
              <a:rPr i="0" sz="4500" b="1">
                <a:solidFill>
                  <a:srgbClr val="111827"/>
                </a:solidFill>
                <a:latin typeface="Poppins"/>
              </a:rPr>
              <a:t>Legal Framework </a:t>
            </a:r>
            <a:r>
              <a:rPr i="0" sz="4500" b="1">
                <a:solidFill>
                  <a:srgbClr val="111827"/>
                </a:solidFill>
                <a:latin typeface="Poppins"/>
              </a:rPr>
              <a:t>&amp;</a:t>
            </a:r>
          </a:p>
        </p:txBody>
      </p:sp>
      <p:sp>
        <p:nvSpPr>
          <p:cNvPr id="5" name="Rectangle 4"/>
          <p:cNvSpPr/>
          <p:nvPr/>
        </p:nvSpPr>
        <p:spPr>
          <a:xfrm>
            <a:off x="5715000" y="1181100"/>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16aebb25-36b5-41bc-9e3a-5ff4cb59e78a.png"/>
          <p:cNvPicPr>
            <a:picLocks noChangeAspect="1"/>
          </p:cNvPicPr>
          <p:nvPr/>
        </p:nvPicPr>
        <p:blipFill>
          <a:blip r:embed="rId5"/>
          <a:stretch>
            <a:fillRect/>
          </a:stretch>
        </p:blipFill>
        <p:spPr>
          <a:xfrm>
            <a:off x="1838325" y="2314575"/>
            <a:ext cx="8515350" cy="2695575"/>
          </a:xfrm>
          <a:prstGeom prst="rect">
            <a:avLst/>
          </a:prstGeom>
        </p:spPr>
      </p:pic>
      <p:sp>
        <p:nvSpPr>
          <p:cNvPr id="7" name="Rectangle 6"/>
          <p:cNvSpPr/>
          <p:nvPr/>
        </p:nvSpPr>
        <p:spPr>
          <a:xfrm>
            <a:off x="1838325" y="2314575"/>
            <a:ext cx="2128837" cy="539055"/>
          </a:xfrm>
          <a:prstGeom prst="rect">
            <a:avLst/>
          </a:prstGeom>
          <a:solidFill>
            <a:srgbClr val="9333EA"/>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8" name="TextBox 7"/>
          <p:cNvSpPr txBox="1"/>
          <p:nvPr/>
        </p:nvSpPr>
        <p:spPr>
          <a:xfrm>
            <a:off x="2697360" y="2492722"/>
            <a:ext cx="429666"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1">
                <a:solidFill>
                  <a:srgbClr val="FFFFFF"/>
                </a:solidFill>
                <a:latin typeface="Poppins"/>
              </a:defRPr>
            </a:pPr>
            <a:r>
              <a:rPr i="0" sz="1200" b="1">
                <a:solidFill>
                  <a:srgbClr val="FFFFFF"/>
                </a:solidFill>
                <a:latin typeface="Poppins"/>
              </a:rPr>
              <a:t>Term</a:t>
            </a:r>
          </a:p>
        </p:txBody>
      </p:sp>
      <p:sp>
        <p:nvSpPr>
          <p:cNvPr id="9" name="Rectangle 8"/>
          <p:cNvSpPr/>
          <p:nvPr/>
        </p:nvSpPr>
        <p:spPr>
          <a:xfrm>
            <a:off x="3967162" y="2314575"/>
            <a:ext cx="2128837" cy="539055"/>
          </a:xfrm>
          <a:prstGeom prst="rect">
            <a:avLst/>
          </a:prstGeom>
          <a:solidFill>
            <a:srgbClr val="9333EA"/>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10" name="TextBox 9"/>
          <p:cNvSpPr txBox="1"/>
          <p:nvPr/>
        </p:nvSpPr>
        <p:spPr>
          <a:xfrm>
            <a:off x="4580334" y="2492722"/>
            <a:ext cx="921394"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1">
                <a:solidFill>
                  <a:srgbClr val="FFFFFF"/>
                </a:solidFill>
                <a:latin typeface="Poppins"/>
              </a:defRPr>
            </a:pPr>
            <a:r>
              <a:rPr i="0" sz="1200" b="1">
                <a:solidFill>
                  <a:srgbClr val="FFFFFF"/>
                </a:solidFill>
                <a:latin typeface="Poppins"/>
              </a:rPr>
              <a:t>Description</a:t>
            </a:r>
          </a:p>
        </p:txBody>
      </p:sp>
      <p:sp>
        <p:nvSpPr>
          <p:cNvPr id="11" name="Rectangle 10"/>
          <p:cNvSpPr/>
          <p:nvPr/>
        </p:nvSpPr>
        <p:spPr>
          <a:xfrm>
            <a:off x="6096000" y="2314575"/>
            <a:ext cx="2128837" cy="539055"/>
          </a:xfrm>
          <a:prstGeom prst="rect">
            <a:avLst/>
          </a:prstGeom>
          <a:solidFill>
            <a:srgbClr val="9333EA"/>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12" name="TextBox 11"/>
          <p:cNvSpPr txBox="1"/>
          <p:nvPr/>
        </p:nvSpPr>
        <p:spPr>
          <a:xfrm>
            <a:off x="6725542" y="2492722"/>
            <a:ext cx="888801"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1">
                <a:solidFill>
                  <a:srgbClr val="FFFFFF"/>
                </a:solidFill>
                <a:latin typeface="Poppins"/>
              </a:defRPr>
            </a:pPr>
            <a:r>
              <a:rPr i="0" sz="1200" b="1">
                <a:solidFill>
                  <a:srgbClr val="FFFFFF"/>
                </a:solidFill>
                <a:latin typeface="Poppins"/>
              </a:rPr>
              <a:t>Legal Basis</a:t>
            </a:r>
          </a:p>
        </p:txBody>
      </p:sp>
      <p:sp>
        <p:nvSpPr>
          <p:cNvPr id="13" name="Rectangle 12"/>
          <p:cNvSpPr/>
          <p:nvPr/>
        </p:nvSpPr>
        <p:spPr>
          <a:xfrm>
            <a:off x="8224837" y="2314575"/>
            <a:ext cx="2128837" cy="539055"/>
          </a:xfrm>
          <a:prstGeom prst="rect">
            <a:avLst/>
          </a:prstGeom>
          <a:solidFill>
            <a:srgbClr val="9333EA"/>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14" name="TextBox 13"/>
          <p:cNvSpPr txBox="1"/>
          <p:nvPr/>
        </p:nvSpPr>
        <p:spPr>
          <a:xfrm>
            <a:off x="8971508" y="2492722"/>
            <a:ext cx="654546"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1">
                <a:solidFill>
                  <a:srgbClr val="FFFFFF"/>
                </a:solidFill>
                <a:latin typeface="Poppins"/>
              </a:defRPr>
            </a:pPr>
            <a:r>
              <a:rPr i="0" sz="1200" b="1">
                <a:solidFill>
                  <a:srgbClr val="FFFFFF"/>
                </a:solidFill>
                <a:latin typeface="Poppins"/>
              </a:rPr>
              <a:t>Contact</a:t>
            </a:r>
          </a:p>
        </p:txBody>
      </p:sp>
      <p:sp>
        <p:nvSpPr>
          <p:cNvPr id="15" name="Rectangle 14"/>
          <p:cNvSpPr/>
          <p:nvPr/>
        </p:nvSpPr>
        <p:spPr>
          <a:xfrm>
            <a:off x="1838325" y="2853630"/>
            <a:ext cx="2128837" cy="539055"/>
          </a:xfrm>
          <a:prstGeom prst="rect">
            <a:avLst/>
          </a:prstGeom>
          <a:solidFill>
            <a:srgbClr val="E5E7EB"/>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16" name="TextBox 15"/>
          <p:cNvSpPr txBox="1"/>
          <p:nvPr/>
        </p:nvSpPr>
        <p:spPr>
          <a:xfrm>
            <a:off x="2201019" y="3031777"/>
            <a:ext cx="1422499"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Dispute Resolution</a:t>
            </a:r>
          </a:p>
        </p:txBody>
      </p:sp>
      <p:sp>
        <p:nvSpPr>
          <p:cNvPr id="17" name="Rectangle 16"/>
          <p:cNvSpPr/>
          <p:nvPr/>
        </p:nvSpPr>
        <p:spPr>
          <a:xfrm>
            <a:off x="3967162" y="2853630"/>
            <a:ext cx="2128837" cy="539055"/>
          </a:xfrm>
          <a:prstGeom prst="rect">
            <a:avLst/>
          </a:prstGeom>
          <a:solidFill>
            <a:srgbClr val="F3F4F6"/>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18" name="TextBox 17"/>
          <p:cNvSpPr txBox="1"/>
          <p:nvPr/>
        </p:nvSpPr>
        <p:spPr>
          <a:xfrm>
            <a:off x="4423171" y="3031777"/>
            <a:ext cx="1235868"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UAE Law Applies</a:t>
            </a:r>
          </a:p>
        </p:txBody>
      </p:sp>
      <p:sp>
        <p:nvSpPr>
          <p:cNvPr id="19" name="Rectangle 18"/>
          <p:cNvSpPr/>
          <p:nvPr/>
        </p:nvSpPr>
        <p:spPr>
          <a:xfrm>
            <a:off x="6096000" y="2853630"/>
            <a:ext cx="2128837" cy="539055"/>
          </a:xfrm>
          <a:prstGeom prst="rect">
            <a:avLst/>
          </a:prstGeom>
          <a:solidFill>
            <a:srgbClr val="E5E7EB"/>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20" name="TextBox 19"/>
          <p:cNvSpPr txBox="1"/>
          <p:nvPr/>
        </p:nvSpPr>
        <p:spPr>
          <a:xfrm>
            <a:off x="6851153" y="3031777"/>
            <a:ext cx="637430"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UAE Law</a:t>
            </a:r>
          </a:p>
        </p:txBody>
      </p:sp>
      <p:sp>
        <p:nvSpPr>
          <p:cNvPr id="21" name="TextBox 20"/>
          <p:cNvSpPr txBox="1"/>
          <p:nvPr/>
        </p:nvSpPr>
        <p:spPr>
          <a:xfrm>
            <a:off x="8224837" y="2853630"/>
            <a:ext cx="2147887" cy="539055"/>
          </a:xfrm>
          <a:prstGeom prst="rect">
            <a:avLst/>
          </a:prstGeom>
          <a:solidFill>
            <a:srgbClr val="F3F4F6"/>
          </a:solidFill>
          <a:ln w="9525">
            <a:solidFill>
              <a:srgbClr val="D8D3C4"/>
            </a:solidFill>
          </a:ln>
          <a:effectLst>
            <a:outerShdw blurRad="0" dist="0" dir="0">
              <a:srgbClr val="000000">
                <a:alpha val="0"/>
              </a:srgbClr>
            </a:outerShdw>
          </a:effectLst>
        </p:spPr>
        <p:txBody>
          <a:bodyPr wrap="square" anchor="ctr" lIns="57150" rIns="57150" tIns="38100" bIns="38100">
            <a:spAutoFit/>
          </a:bodyPr>
          <a:lstStyle/>
          <a:p>
            <a:pPr algn="ctr">
              <a:lnSpc>
                <a:spcPct val="96000"/>
              </a:lnSpc>
              <a:defRPr i="0" sz="1200" b="0">
                <a:solidFill>
                  <a:srgbClr val="4B5563"/>
                </a:solidFill>
                <a:latin typeface="Poppins"/>
              </a:defRPr>
            </a:pPr>
            <a:r>
              <a:rPr i="0" sz="1200" b="0">
                <a:solidFill>
                  <a:srgbClr val="4B5563"/>
                </a:solidFill>
                <a:latin typeface="Poppins"/>
              </a:rPr>
              <a:t> </a:t>
            </a:r>
          </a:p>
        </p:txBody>
      </p:sp>
      <p:sp>
        <p:nvSpPr>
          <p:cNvPr id="22" name="Rectangle 21"/>
          <p:cNvSpPr/>
          <p:nvPr/>
        </p:nvSpPr>
        <p:spPr>
          <a:xfrm>
            <a:off x="1838325" y="3392685"/>
            <a:ext cx="2128837" cy="539204"/>
          </a:xfrm>
          <a:prstGeom prst="rect">
            <a:avLst/>
          </a:prstGeom>
          <a:solidFill>
            <a:srgbClr val="E5E7EB"/>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23" name="TextBox 22"/>
          <p:cNvSpPr txBox="1"/>
          <p:nvPr/>
        </p:nvSpPr>
        <p:spPr>
          <a:xfrm>
            <a:off x="2117675" y="3570833"/>
            <a:ext cx="1589186"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External Content Use</a:t>
            </a:r>
          </a:p>
        </p:txBody>
      </p:sp>
      <p:sp>
        <p:nvSpPr>
          <p:cNvPr id="24" name="Rectangle 23"/>
          <p:cNvSpPr/>
          <p:nvPr/>
        </p:nvSpPr>
        <p:spPr>
          <a:xfrm>
            <a:off x="3967162" y="3392685"/>
            <a:ext cx="2128837" cy="539204"/>
          </a:xfrm>
          <a:prstGeom prst="rect">
            <a:avLst/>
          </a:prstGeom>
          <a:solidFill>
            <a:srgbClr val="F3F4F6"/>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25" name="TextBox 24"/>
          <p:cNvSpPr txBox="1"/>
          <p:nvPr/>
        </p:nvSpPr>
        <p:spPr>
          <a:xfrm>
            <a:off x="4138017" y="3570833"/>
            <a:ext cx="1806178"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Prior Approval Required</a:t>
            </a:r>
          </a:p>
        </p:txBody>
      </p:sp>
      <p:sp>
        <p:nvSpPr>
          <p:cNvPr id="26" name="Rectangle 25"/>
          <p:cNvSpPr/>
          <p:nvPr/>
        </p:nvSpPr>
        <p:spPr>
          <a:xfrm>
            <a:off x="6096000" y="3392685"/>
            <a:ext cx="2128837" cy="539204"/>
          </a:xfrm>
          <a:prstGeom prst="rect">
            <a:avLst/>
          </a:prstGeom>
          <a:solidFill>
            <a:srgbClr val="E5E7EB"/>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27" name="TextBox 26"/>
          <p:cNvSpPr txBox="1"/>
          <p:nvPr/>
        </p:nvSpPr>
        <p:spPr>
          <a:xfrm>
            <a:off x="6247209" y="3570833"/>
            <a:ext cx="1845319"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Contractual Obligations</a:t>
            </a:r>
          </a:p>
        </p:txBody>
      </p:sp>
      <p:sp>
        <p:nvSpPr>
          <p:cNvPr id="28" name="TextBox 27"/>
          <p:cNvSpPr txBox="1"/>
          <p:nvPr/>
        </p:nvSpPr>
        <p:spPr>
          <a:xfrm>
            <a:off x="8224837" y="3392685"/>
            <a:ext cx="2147887" cy="539204"/>
          </a:xfrm>
          <a:prstGeom prst="rect">
            <a:avLst/>
          </a:prstGeom>
          <a:solidFill>
            <a:srgbClr val="F3F4F6"/>
          </a:solidFill>
          <a:ln w="9525">
            <a:solidFill>
              <a:srgbClr val="D8D3C4"/>
            </a:solidFill>
          </a:ln>
          <a:effectLst>
            <a:outerShdw blurRad="0" dist="0" dir="0">
              <a:srgbClr val="000000">
                <a:alpha val="0"/>
              </a:srgbClr>
            </a:outerShdw>
          </a:effectLst>
        </p:spPr>
        <p:txBody>
          <a:bodyPr wrap="square" anchor="ctr" lIns="57150" rIns="57150" tIns="38100" bIns="38100">
            <a:spAutoFit/>
          </a:bodyPr>
          <a:lstStyle/>
          <a:p>
            <a:pPr algn="ctr">
              <a:lnSpc>
                <a:spcPct val="96000"/>
              </a:lnSpc>
              <a:defRPr i="0" sz="1200" b="0">
                <a:solidFill>
                  <a:srgbClr val="4B5563"/>
                </a:solidFill>
                <a:latin typeface="Poppins"/>
              </a:defRPr>
            </a:pPr>
            <a:r>
              <a:rPr i="0" sz="1200" b="0">
                <a:solidFill>
                  <a:srgbClr val="4B5563"/>
                </a:solidFill>
                <a:latin typeface="Poppins"/>
              </a:rPr>
              <a:t> </a:t>
            </a:r>
          </a:p>
        </p:txBody>
      </p:sp>
      <p:sp>
        <p:nvSpPr>
          <p:cNvPr id="29" name="Rectangle 28"/>
          <p:cNvSpPr/>
          <p:nvPr/>
        </p:nvSpPr>
        <p:spPr>
          <a:xfrm>
            <a:off x="1838325" y="3931890"/>
            <a:ext cx="2128837" cy="539055"/>
          </a:xfrm>
          <a:prstGeom prst="rect">
            <a:avLst/>
          </a:prstGeom>
          <a:solidFill>
            <a:srgbClr val="E5E7EB"/>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30" name="TextBox 29"/>
          <p:cNvSpPr txBox="1"/>
          <p:nvPr/>
        </p:nvSpPr>
        <p:spPr>
          <a:xfrm>
            <a:off x="2208907" y="4110037"/>
            <a:ext cx="1406723"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Licensing Inquiries</a:t>
            </a:r>
          </a:p>
        </p:txBody>
      </p:sp>
      <p:sp>
        <p:nvSpPr>
          <p:cNvPr id="31" name="Rectangle 30"/>
          <p:cNvSpPr/>
          <p:nvPr/>
        </p:nvSpPr>
        <p:spPr>
          <a:xfrm>
            <a:off x="3967162" y="3931890"/>
            <a:ext cx="2128837" cy="539055"/>
          </a:xfrm>
          <a:prstGeom prst="rect">
            <a:avLst/>
          </a:prstGeom>
          <a:solidFill>
            <a:srgbClr val="F3F4F6"/>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32" name="TextBox 31"/>
          <p:cNvSpPr txBox="1"/>
          <p:nvPr/>
        </p:nvSpPr>
        <p:spPr>
          <a:xfrm>
            <a:off x="4112418" y="4110037"/>
            <a:ext cx="1857375"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Email: [email protected]</a:t>
            </a:r>
          </a:p>
        </p:txBody>
      </p:sp>
      <p:sp>
        <p:nvSpPr>
          <p:cNvPr id="33" name="Rectangle 32"/>
          <p:cNvSpPr/>
          <p:nvPr/>
        </p:nvSpPr>
        <p:spPr>
          <a:xfrm>
            <a:off x="6096000" y="3931890"/>
            <a:ext cx="2128837" cy="539055"/>
          </a:xfrm>
          <a:prstGeom prst="rect">
            <a:avLst/>
          </a:prstGeom>
          <a:solidFill>
            <a:srgbClr val="E5E7EB"/>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34" name="TextBox 33"/>
          <p:cNvSpPr txBox="1"/>
          <p:nvPr/>
        </p:nvSpPr>
        <p:spPr>
          <a:xfrm>
            <a:off x="6702921" y="4110037"/>
            <a:ext cx="934045"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Legal Terms</a:t>
            </a:r>
          </a:p>
        </p:txBody>
      </p:sp>
      <p:sp>
        <p:nvSpPr>
          <p:cNvPr id="35" name="TextBox 34"/>
          <p:cNvSpPr txBox="1"/>
          <p:nvPr/>
        </p:nvSpPr>
        <p:spPr>
          <a:xfrm>
            <a:off x="8224837" y="3931890"/>
            <a:ext cx="2147887" cy="539055"/>
          </a:xfrm>
          <a:prstGeom prst="rect">
            <a:avLst/>
          </a:prstGeom>
          <a:solidFill>
            <a:srgbClr val="F3F4F6"/>
          </a:solidFill>
          <a:ln w="9525">
            <a:solidFill>
              <a:srgbClr val="D8D3C4"/>
            </a:solidFill>
          </a:ln>
          <a:effectLst>
            <a:outerShdw blurRad="0" dist="0" dir="0">
              <a:srgbClr val="000000">
                <a:alpha val="0"/>
              </a:srgbClr>
            </a:outerShdw>
          </a:effectLst>
        </p:spPr>
        <p:txBody>
          <a:bodyPr wrap="square" anchor="ctr" lIns="57150" rIns="57150" tIns="38100" bIns="38100">
            <a:spAutoFit/>
          </a:bodyPr>
          <a:lstStyle/>
          <a:p>
            <a:pPr algn="ctr">
              <a:lnSpc>
                <a:spcPct val="96000"/>
              </a:lnSpc>
              <a:defRPr i="0" sz="1200" b="0">
                <a:solidFill>
                  <a:srgbClr val="4B5563"/>
                </a:solidFill>
                <a:latin typeface="Poppins"/>
              </a:defRPr>
            </a:pPr>
            <a:r>
              <a:rPr i="0" sz="1200" b="0">
                <a:solidFill>
                  <a:srgbClr val="4B5563"/>
                </a:solidFill>
                <a:latin typeface="Poppins"/>
              </a:rPr>
              <a:t> </a:t>
            </a:r>
          </a:p>
        </p:txBody>
      </p:sp>
      <p:sp>
        <p:nvSpPr>
          <p:cNvPr id="36" name="Rectangle 35"/>
          <p:cNvSpPr/>
          <p:nvPr/>
        </p:nvSpPr>
        <p:spPr>
          <a:xfrm>
            <a:off x="1838325" y="4470945"/>
            <a:ext cx="2128837" cy="539055"/>
          </a:xfrm>
          <a:prstGeom prst="rect">
            <a:avLst/>
          </a:prstGeom>
          <a:solidFill>
            <a:srgbClr val="E5E7EB"/>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37" name="TextBox 36"/>
          <p:cNvSpPr txBox="1"/>
          <p:nvPr/>
        </p:nvSpPr>
        <p:spPr>
          <a:xfrm>
            <a:off x="2236142" y="4649092"/>
            <a:ext cx="1352103"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Compliance Note</a:t>
            </a:r>
          </a:p>
        </p:txBody>
      </p:sp>
      <p:sp>
        <p:nvSpPr>
          <p:cNvPr id="38" name="Rectangle 37"/>
          <p:cNvSpPr/>
          <p:nvPr/>
        </p:nvSpPr>
        <p:spPr>
          <a:xfrm>
            <a:off x="3967162" y="4470945"/>
            <a:ext cx="2128837" cy="539055"/>
          </a:xfrm>
          <a:prstGeom prst="rect">
            <a:avLst/>
          </a:prstGeom>
          <a:solidFill>
            <a:srgbClr val="F3F4F6"/>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39" name="TextBox 38"/>
          <p:cNvSpPr txBox="1"/>
          <p:nvPr/>
        </p:nvSpPr>
        <p:spPr>
          <a:xfrm>
            <a:off x="4088606" y="4649092"/>
            <a:ext cx="1904851"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Review Terms Before Use</a:t>
            </a:r>
          </a:p>
        </p:txBody>
      </p:sp>
      <p:sp>
        <p:nvSpPr>
          <p:cNvPr id="40" name="Rectangle 39"/>
          <p:cNvSpPr/>
          <p:nvPr/>
        </p:nvSpPr>
        <p:spPr>
          <a:xfrm>
            <a:off x="6096000" y="4470945"/>
            <a:ext cx="2128837" cy="539055"/>
          </a:xfrm>
          <a:prstGeom prst="rect">
            <a:avLst/>
          </a:prstGeom>
          <a:solidFill>
            <a:srgbClr val="E5E7EB"/>
          </a:solidFill>
          <a:ln w="9525">
            <a:solidFill>
              <a:srgbClr val="D8D3C4"/>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38100" bIns="38100"/>
          <a:lstStyle/>
          <a:p>
            <a:pPr algn="ctr"/>
          </a:p>
        </p:txBody>
      </p:sp>
      <p:sp>
        <p:nvSpPr>
          <p:cNvPr id="41" name="TextBox 40"/>
          <p:cNvSpPr txBox="1"/>
          <p:nvPr/>
        </p:nvSpPr>
        <p:spPr>
          <a:xfrm>
            <a:off x="6510039" y="4649092"/>
            <a:ext cx="1319658" cy="18276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Legal Agreement</a:t>
            </a:r>
          </a:p>
        </p:txBody>
      </p:sp>
      <p:sp>
        <p:nvSpPr>
          <p:cNvPr id="42" name="TextBox 41"/>
          <p:cNvSpPr txBox="1"/>
          <p:nvPr/>
        </p:nvSpPr>
        <p:spPr>
          <a:xfrm>
            <a:off x="8224837" y="4470945"/>
            <a:ext cx="2147887" cy="539055"/>
          </a:xfrm>
          <a:prstGeom prst="rect">
            <a:avLst/>
          </a:prstGeom>
          <a:solidFill>
            <a:srgbClr val="F3F4F6"/>
          </a:solidFill>
          <a:ln w="9525">
            <a:solidFill>
              <a:srgbClr val="D8D3C4"/>
            </a:solidFill>
          </a:ln>
          <a:effectLst>
            <a:outerShdw blurRad="0" dist="0" dir="0">
              <a:srgbClr val="000000">
                <a:alpha val="0"/>
              </a:srgbClr>
            </a:outerShdw>
          </a:effectLst>
        </p:spPr>
        <p:txBody>
          <a:bodyPr wrap="square" anchor="ctr" lIns="57150" rIns="57150" tIns="38100" bIns="38100">
            <a:spAutoFit/>
          </a:bodyPr>
          <a:lstStyle/>
          <a:p>
            <a:pPr algn="ctr">
              <a:lnSpc>
                <a:spcPct val="96000"/>
              </a:lnSpc>
              <a:defRPr i="0" sz="1200" b="0">
                <a:solidFill>
                  <a:srgbClr val="4B5563"/>
                </a:solidFill>
                <a:latin typeface="Poppins"/>
              </a:defRPr>
            </a:pPr>
            <a:r>
              <a:rPr i="0" sz="1200" b="0">
                <a:solidFill>
                  <a:srgbClr val="4B5563"/>
                </a:solidFill>
                <a:latin typeface="Poppins"/>
              </a:rPr>
              <a:t> </a:t>
            </a:r>
          </a:p>
        </p:txBody>
      </p:sp>
      <p:sp>
        <p:nvSpPr>
          <p:cNvPr id="43" name="TextBox 42"/>
          <p:cNvSpPr txBox="1"/>
          <p:nvPr/>
        </p:nvSpPr>
        <p:spPr>
          <a:xfrm>
            <a:off x="1828800" y="6096000"/>
            <a:ext cx="8572500" cy="4572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96000"/>
              </a:lnSpc>
              <a:defRPr i="0" sz="1200" b="0">
                <a:solidFill>
                  <a:srgbClr val="4B5563"/>
                </a:solidFill>
                <a:latin typeface="Poppins"/>
              </a:defRPr>
            </a:pPr>
            <a:r>
              <a:rPr i="0" sz="1200" b="0">
                <a:solidFill>
                  <a:srgbClr val="4B5563"/>
                </a:solidFill>
                <a:latin typeface="Poppins"/>
              </a:rPr>
              <a:t>Users must adhere to UAE legal framework for dispute resolution and contractual obligations. External content use requires prior approval. Licensing inquiries should be directed to the specified email for full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276225"/>
            <a:ext cx="73533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Website A</a:t>
            </a:r>
          </a:p>
        </p:txBody>
      </p:sp>
      <p:sp>
        <p:nvSpPr>
          <p:cNvPr id="3" name="TextBox 2"/>
          <p:cNvSpPr txBox="1"/>
          <p:nvPr/>
        </p:nvSpPr>
        <p:spPr>
          <a:xfrm>
            <a:off x="762000" y="1028700"/>
            <a:ext cx="73533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The platform offers free, dynamic access with periodic updates to ensure relevance. However, service suspensions or r</a:t>
            </a:r>
          </a:p>
        </p:txBody>
      </p:sp>
      <p:sp>
        <p:nvSpPr>
          <p:cNvPr id="4" name="Rounded Rectangle 3"/>
          <p:cNvSpPr/>
          <p:nvPr/>
        </p:nvSpPr>
        <p:spPr>
          <a:xfrm>
            <a:off x="762000" y="1828800"/>
            <a:ext cx="7315200" cy="4724400"/>
          </a:xfrm>
          <a:prstGeom prst="roundRect">
            <a:avLst>
              <a:gd name="adj" fmla="val 1209"/>
            </a:avLst>
          </a:prstGeom>
          <a:solidFill>
            <a:srgbClr val="FFFFFF"/>
          </a:solidFill>
          <a:ln w="9525">
            <a:solidFill>
              <a:srgbClr val="F8F9FA"/>
            </a:solidFill>
          </a:ln>
          <a:effectLst>
            <a:outerShdw blurRad="19050" dir="5400000" dist="9525"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c6125e96-291f-4cc5-860b-ebcb63dc7dee.png"/>
          <p:cNvPicPr>
            <a:picLocks noChangeAspect="1"/>
          </p:cNvPicPr>
          <p:nvPr/>
        </p:nvPicPr>
        <p:blipFill>
          <a:blip r:embed="rId3"/>
          <a:stretch>
            <a:fillRect/>
          </a:stretch>
        </p:blipFill>
        <p:spPr>
          <a:xfrm>
            <a:off x="923925" y="1990725"/>
            <a:ext cx="6991350" cy="4381500"/>
          </a:xfrm>
          <a:prstGeom prst="rect">
            <a:avLst/>
          </a:prstGeom>
        </p:spPr>
      </p:pic>
      <p:sp>
        <p:nvSpPr>
          <p:cNvPr id="6" name="Rectangle 5"/>
          <p:cNvSpPr/>
          <p:nvPr/>
        </p:nvSpPr>
        <p:spPr>
          <a:xfrm>
            <a:off x="8382000" y="971550"/>
            <a:ext cx="3048000" cy="1538287"/>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0eb8c2e8-857c-42fb-b6cd-b466871f43c9.png"/>
          <p:cNvPicPr>
            <a:picLocks noChangeAspect="1"/>
          </p:cNvPicPr>
          <p:nvPr/>
        </p:nvPicPr>
        <p:blipFill>
          <a:blip r:embed="rId4"/>
          <a:stretch>
            <a:fillRect/>
          </a:stretch>
        </p:blipFill>
        <p:spPr>
          <a:xfrm>
            <a:off x="8663880" y="1377255"/>
            <a:ext cx="190500" cy="190500"/>
          </a:xfrm>
          <a:prstGeom prst="rect">
            <a:avLst/>
          </a:prstGeom>
        </p:spPr>
      </p:pic>
      <p:sp>
        <p:nvSpPr>
          <p:cNvPr id="8" name="TextBox 7"/>
          <p:cNvSpPr txBox="1"/>
          <p:nvPr/>
        </p:nvSpPr>
        <p:spPr>
          <a:xfrm>
            <a:off x="9021960" y="1200150"/>
            <a:ext cx="2217390"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FFFFFF"/>
                </a:solidFill>
                <a:latin typeface="Poppins"/>
              </a:defRPr>
            </a:pPr>
            <a:r>
              <a:rPr i="0" sz="1350" b="0">
                <a:solidFill>
                  <a:srgbClr val="FFFFFF"/>
                </a:solidFill>
                <a:latin typeface="Poppins"/>
              </a:rPr>
              <a:t>Access Notice</a:t>
            </a:r>
          </a:p>
        </p:txBody>
      </p:sp>
      <p:sp>
        <p:nvSpPr>
          <p:cNvPr id="9" name="TextBox 8"/>
          <p:cNvSpPr txBox="1"/>
          <p:nvPr/>
        </p:nvSpPr>
        <p:spPr>
          <a:xfrm>
            <a:off x="8610600" y="1847850"/>
            <a:ext cx="2628900" cy="438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FFFFFF"/>
                </a:solidFill>
                <a:latin typeface="Poppins"/>
              </a:defRPr>
            </a:pPr>
            <a:r>
              <a:rPr i="0" sz="1050" b="0">
                <a:solidFill>
                  <a:srgbClr val="FFFFFF"/>
                </a:solidFill>
                <a:latin typeface="Poppins"/>
              </a:rPr>
              <a:t>Service availability may change without prior notice.</a:t>
            </a:r>
          </a:p>
        </p:txBody>
      </p:sp>
      <p:sp>
        <p:nvSpPr>
          <p:cNvPr id="10" name="Rectangle 9"/>
          <p:cNvSpPr/>
          <p:nvPr/>
        </p:nvSpPr>
        <p:spPr>
          <a:xfrm>
            <a:off x="8382000" y="2660749"/>
            <a:ext cx="3048000" cy="1538287"/>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1" name="Picture 10" descr="0eb8c2e8-857c-42fb-b6cd-b466871f43c9.png"/>
          <p:cNvPicPr>
            <a:picLocks noChangeAspect="1"/>
          </p:cNvPicPr>
          <p:nvPr/>
        </p:nvPicPr>
        <p:blipFill>
          <a:blip r:embed="rId4"/>
          <a:stretch>
            <a:fillRect/>
          </a:stretch>
        </p:blipFill>
        <p:spPr>
          <a:xfrm>
            <a:off x="8648700" y="3066454"/>
            <a:ext cx="190500" cy="190500"/>
          </a:xfrm>
          <a:prstGeom prst="rect">
            <a:avLst/>
          </a:prstGeom>
        </p:spPr>
      </p:pic>
      <p:sp>
        <p:nvSpPr>
          <p:cNvPr id="12" name="TextBox 11"/>
          <p:cNvSpPr txBox="1"/>
          <p:nvPr/>
        </p:nvSpPr>
        <p:spPr>
          <a:xfrm>
            <a:off x="8989665" y="2889349"/>
            <a:ext cx="2249685"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FFFFFF"/>
                </a:solidFill>
                <a:latin typeface="Poppins"/>
              </a:defRPr>
            </a:pPr>
            <a:r>
              <a:rPr i="0" sz="1350" b="0">
                <a:solidFill>
                  <a:srgbClr val="FFFFFF"/>
                </a:solidFill>
                <a:latin typeface="Poppins"/>
              </a:rPr>
              <a:t>Data Retention</a:t>
            </a:r>
          </a:p>
        </p:txBody>
      </p:sp>
      <p:sp>
        <p:nvSpPr>
          <p:cNvPr id="13" name="TextBox 12"/>
          <p:cNvSpPr txBox="1"/>
          <p:nvPr/>
        </p:nvSpPr>
        <p:spPr>
          <a:xfrm>
            <a:off x="8610600" y="3537049"/>
            <a:ext cx="2628900" cy="438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FFFFFF"/>
                </a:solidFill>
                <a:latin typeface="Poppins"/>
              </a:defRPr>
            </a:pPr>
            <a:r>
              <a:rPr i="0" sz="1050" b="0">
                <a:solidFill>
                  <a:srgbClr val="FFFFFF"/>
                </a:solidFill>
                <a:latin typeface="Poppins"/>
              </a:rPr>
              <a:t>Content retention is not guaranteed.</a:t>
            </a:r>
          </a:p>
        </p:txBody>
      </p:sp>
      <p:sp>
        <p:nvSpPr>
          <p:cNvPr id="14" name="Rectangle 13"/>
          <p:cNvSpPr/>
          <p:nvPr/>
        </p:nvSpPr>
        <p:spPr>
          <a:xfrm>
            <a:off x="8382000" y="4349799"/>
            <a:ext cx="3048000" cy="1538287"/>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5" name="Picture 14" descr="0eb8c2e8-857c-42fb-b6cd-b466871f43c9.png"/>
          <p:cNvPicPr>
            <a:picLocks noChangeAspect="1"/>
          </p:cNvPicPr>
          <p:nvPr/>
        </p:nvPicPr>
        <p:blipFill>
          <a:blip r:embed="rId4"/>
          <a:stretch>
            <a:fillRect/>
          </a:stretch>
        </p:blipFill>
        <p:spPr>
          <a:xfrm>
            <a:off x="8640960" y="4755505"/>
            <a:ext cx="190500" cy="190500"/>
          </a:xfrm>
          <a:prstGeom prst="rect">
            <a:avLst/>
          </a:prstGeom>
        </p:spPr>
      </p:pic>
      <p:sp>
        <p:nvSpPr>
          <p:cNvPr id="16" name="TextBox 15"/>
          <p:cNvSpPr txBox="1"/>
          <p:nvPr/>
        </p:nvSpPr>
        <p:spPr>
          <a:xfrm>
            <a:off x="8976270" y="4578399"/>
            <a:ext cx="2263080"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FFFFFF"/>
                </a:solidFill>
                <a:latin typeface="Poppins"/>
              </a:defRPr>
            </a:pPr>
            <a:r>
              <a:rPr i="0" sz="1350" b="0">
                <a:solidFill>
                  <a:srgbClr val="FFFFFF"/>
                </a:solidFill>
                <a:latin typeface="Poppins"/>
              </a:rPr>
              <a:t>Platform Updates</a:t>
            </a:r>
          </a:p>
        </p:txBody>
      </p:sp>
      <p:sp>
        <p:nvSpPr>
          <p:cNvPr id="17" name="TextBox 16"/>
          <p:cNvSpPr txBox="1"/>
          <p:nvPr/>
        </p:nvSpPr>
        <p:spPr>
          <a:xfrm>
            <a:off x="8610600" y="5226099"/>
            <a:ext cx="2628900" cy="438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FFFFFF"/>
                </a:solidFill>
                <a:latin typeface="Poppins"/>
              </a:defRPr>
            </a:pPr>
            <a:r>
              <a:rPr i="0" sz="1050" b="0">
                <a:solidFill>
                  <a:srgbClr val="FFFFFF"/>
                </a:solidFill>
                <a:latin typeface="Poppins"/>
              </a:rPr>
              <a:t>Periodic updates ensure relevance.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32e0f16c-a8aa-44fd-844a-11ebac6c9174.png"/>
          <p:cNvPicPr>
            <a:picLocks noChangeAspect="1"/>
          </p:cNvPicPr>
          <p:nvPr/>
        </p:nvPicPr>
        <p:blipFill>
          <a:blip r:embed="rId3"/>
          <a:stretch>
            <a:fillRect/>
          </a:stretch>
        </p:blipFill>
        <p:spPr>
          <a:xfrm>
            <a:off x="0" y="6096000"/>
            <a:ext cx="12192000" cy="762000"/>
          </a:xfrm>
          <a:prstGeom prst="rect">
            <a:avLst/>
          </a:prstGeom>
        </p:spPr>
      </p:pic>
      <p:sp>
        <p:nvSpPr>
          <p:cNvPr id="3" name="TextBox 2"/>
          <p:cNvSpPr txBox="1"/>
          <p:nvPr/>
        </p:nvSpPr>
        <p:spPr>
          <a:xfrm>
            <a:off x="762000" y="457200"/>
            <a:ext cx="73533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User Guidelines </a:t>
            </a:r>
            <a:r>
              <a:rPr i="0" sz="4500" b="1">
                <a:solidFill>
                  <a:srgbClr val="111827"/>
                </a:solidFill>
                <a:latin typeface="Poppins"/>
              </a:rPr>
              <a:t>&amp;</a:t>
            </a:r>
          </a:p>
        </p:txBody>
      </p:sp>
      <p:sp>
        <p:nvSpPr>
          <p:cNvPr id="4" name="Rectangle 3"/>
          <p:cNvSpPr/>
          <p:nvPr/>
        </p:nvSpPr>
        <p:spPr>
          <a:xfrm>
            <a:off x="762000" y="1181100"/>
            <a:ext cx="9144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1ca062a3-b275-43e9-9d92-63bf629c479b.png"/>
          <p:cNvPicPr>
            <a:picLocks noChangeAspect="1"/>
          </p:cNvPicPr>
          <p:nvPr/>
        </p:nvPicPr>
        <p:blipFill>
          <a:blip r:embed="rId4"/>
          <a:stretch>
            <a:fillRect/>
          </a:stretch>
        </p:blipFill>
        <p:spPr>
          <a:xfrm>
            <a:off x="8382000" y="457200"/>
            <a:ext cx="3048000" cy="1828800"/>
          </a:xfrm>
          <a:prstGeom prst="rect">
            <a:avLst/>
          </a:prstGeom>
        </p:spPr>
      </p:pic>
      <p:sp>
        <p:nvSpPr>
          <p:cNvPr id="6" name="TextBox 5"/>
          <p:cNvSpPr txBox="1"/>
          <p:nvPr/>
        </p:nvSpPr>
        <p:spPr>
          <a:xfrm>
            <a:off x="762000" y="2590800"/>
            <a:ext cx="50824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7" name="TextBox 6"/>
          <p:cNvSpPr txBox="1"/>
          <p:nvPr/>
        </p:nvSpPr>
        <p:spPr>
          <a:xfrm>
            <a:off x="1384548" y="2667000"/>
            <a:ext cx="4597003"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Personal Use Per</a:t>
            </a:r>
          </a:p>
        </p:txBody>
      </p:sp>
      <p:sp>
        <p:nvSpPr>
          <p:cNvPr id="8" name="TextBox 7"/>
          <p:cNvSpPr txBox="1"/>
          <p:nvPr/>
        </p:nvSpPr>
        <p:spPr>
          <a:xfrm>
            <a:off x="1384548" y="3086100"/>
            <a:ext cx="4597003" cy="7429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Users may print, download, or share extracts for personal use only.</a:t>
            </a:r>
          </a:p>
        </p:txBody>
      </p:sp>
      <p:sp>
        <p:nvSpPr>
          <p:cNvPr id="9" name="TextBox 8"/>
          <p:cNvSpPr txBox="1"/>
          <p:nvPr/>
        </p:nvSpPr>
        <p:spPr>
          <a:xfrm>
            <a:off x="6248400" y="2590800"/>
            <a:ext cx="597396"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0" name="TextBox 9"/>
          <p:cNvSpPr txBox="1"/>
          <p:nvPr/>
        </p:nvSpPr>
        <p:spPr>
          <a:xfrm>
            <a:off x="6960096" y="2667000"/>
            <a:ext cx="450785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Personal Use Per</a:t>
            </a:r>
          </a:p>
        </p:txBody>
      </p:sp>
      <p:sp>
        <p:nvSpPr>
          <p:cNvPr id="11" name="TextBox 10"/>
          <p:cNvSpPr txBox="1"/>
          <p:nvPr/>
        </p:nvSpPr>
        <p:spPr>
          <a:xfrm>
            <a:off x="6960096" y="3086100"/>
            <a:ext cx="450785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Users may print, download, or share extracts for personal use only.</a:t>
            </a:r>
          </a:p>
        </p:txBody>
      </p:sp>
      <p:sp>
        <p:nvSpPr>
          <p:cNvPr id="12" name="TextBox 11"/>
          <p:cNvSpPr txBox="1"/>
          <p:nvPr/>
        </p:nvSpPr>
        <p:spPr>
          <a:xfrm>
            <a:off x="762000" y="4133850"/>
            <a:ext cx="61272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3" name="TextBox 12"/>
          <p:cNvSpPr txBox="1"/>
          <p:nvPr/>
        </p:nvSpPr>
        <p:spPr>
          <a:xfrm>
            <a:off x="1489025" y="4210050"/>
            <a:ext cx="449252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Personal Use Per</a:t>
            </a:r>
          </a:p>
        </p:txBody>
      </p:sp>
      <p:sp>
        <p:nvSpPr>
          <p:cNvPr id="14" name="TextBox 13"/>
          <p:cNvSpPr txBox="1"/>
          <p:nvPr/>
        </p:nvSpPr>
        <p:spPr>
          <a:xfrm>
            <a:off x="1489025" y="4629150"/>
            <a:ext cx="449252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Users may print, download, or share extracts for personal use only.</a:t>
            </a:r>
          </a:p>
        </p:txBody>
      </p:sp>
      <p:sp>
        <p:nvSpPr>
          <p:cNvPr id="15" name="TextBox 14"/>
          <p:cNvSpPr txBox="1"/>
          <p:nvPr/>
        </p:nvSpPr>
        <p:spPr>
          <a:xfrm>
            <a:off x="6248400" y="4133850"/>
            <a:ext cx="64576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6" name="TextBox 15"/>
          <p:cNvSpPr txBox="1"/>
          <p:nvPr/>
        </p:nvSpPr>
        <p:spPr>
          <a:xfrm>
            <a:off x="7008465" y="4210050"/>
            <a:ext cx="445948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Personal Use Per</a:t>
            </a:r>
          </a:p>
        </p:txBody>
      </p:sp>
      <p:sp>
        <p:nvSpPr>
          <p:cNvPr id="17" name="TextBox 16"/>
          <p:cNvSpPr txBox="1"/>
          <p:nvPr/>
        </p:nvSpPr>
        <p:spPr>
          <a:xfrm>
            <a:off x="7008465" y="4629150"/>
            <a:ext cx="445948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Users may print, download, or share extracts for personal use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