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John Doe outlines DP World's SSL compliance and service terms on 2026-07-11. The slide emphasizes secure data transmission via SSL protocols, legal compliance, and digital interaction service terms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DP World's use of SSL protocols to encrypt data between users and platforms. Key points include protection of sensitive information, compliance with global security standards, and terms of use governing access to secure services. Emphasize encryption's role in safeguarding transactions and user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DP World's website usage terms, emphasizing personal non-commercial use, copyright compliance, and secure access protocols. The metrics highlight critical security features and authorization requirements for sensitive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legal jurisdiction and dispute resolution framework for DP World services, emphasizing UAE law's role, the exclusive jurisdiction of UAE courts, and the universal application of Terms of Use and Acceptable Use Policy to ensure user compliance and liability clarity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82bd52ec-4125-4d26-876e-6bb46aff011a.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 World SSL Com</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presentation outlines DP World's commitment to secure data transmission through SSL protocols, legal compliance, and service terms for digital interactions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981200"/>
            <a:ext cx="4876800" cy="3048000"/>
          </a:xfrm>
          <a:prstGeom prst="roundRect">
            <a:avLst>
              <a:gd name="adj" fmla="val 4375"/>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8b1c49a9-bc23-40f5-abd0-e4cf0dfdc5a5.png"/>
          <p:cNvPicPr>
            <a:picLocks noChangeAspect="1"/>
          </p:cNvPicPr>
          <p:nvPr/>
        </p:nvPicPr>
        <p:blipFill>
          <a:blip r:embed="rId3"/>
          <a:stretch>
            <a:fillRect/>
          </a:stretch>
        </p:blipFill>
        <p:spPr>
          <a:xfrm>
            <a:off x="838200" y="1981200"/>
            <a:ext cx="4876800" cy="3048000"/>
          </a:xfrm>
          <a:prstGeom prst="rect">
            <a:avLst/>
          </a:prstGeom>
        </p:spPr>
      </p:pic>
      <p:sp>
        <p:nvSpPr>
          <p:cNvPr id="4" name="TextBox 3"/>
          <p:cNvSpPr txBox="1"/>
          <p:nvPr/>
        </p:nvSpPr>
        <p:spPr>
          <a:xfrm>
            <a:off x="6400800" y="1552575"/>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SSL Secures Data</a:t>
            </a:r>
          </a:p>
        </p:txBody>
      </p:sp>
      <p:sp>
        <p:nvSpPr>
          <p:cNvPr id="5" name="Rectangle 4"/>
          <p:cNvSpPr/>
          <p:nvPr/>
        </p:nvSpPr>
        <p:spPr>
          <a:xfrm>
            <a:off x="6400800" y="2924175"/>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190875"/>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SSL protocols ensure encrypted data transfer between users and DP World platforms. They protect sensitive info like login credentials and transaction data. Compliance with global security standards safeguards</a:t>
            </a:r>
          </a:p>
        </p:txBody>
      </p:sp>
      <p:sp>
        <p:nvSpPr>
          <p:cNvPr id="7" name="Rounded Rectangle 6"/>
          <p:cNvSpPr/>
          <p:nvPr/>
        </p:nvSpPr>
        <p:spPr>
          <a:xfrm>
            <a:off x="6400800" y="4486275"/>
            <a:ext cx="5029200" cy="971550"/>
          </a:xfrm>
          <a:prstGeom prst="roundRect">
            <a:avLst>
              <a:gd name="adj" fmla="val 5882"/>
            </a:avLst>
          </a:prstGeom>
          <a:solidFill>
            <a:srgbClr val="FFFFFF"/>
          </a:solidFill>
          <a:ln w="9525">
            <a:solidFill>
              <a:srgbClr val="E5E7EB"/>
            </a:solidFill>
          </a:ln>
          <a:effectLst>
            <a:outerShdw blurRad="19050" dir="5400000" dist="9525"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6638925" y="4743450"/>
            <a:ext cx="457200" cy="457200"/>
          </a:xfrm>
          <a:prstGeom prst="roundRect">
            <a:avLst>
              <a:gd name="adj" fmla="val 1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6767958" y="4857750"/>
            <a:ext cx="238125"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200" b="1">
                <a:solidFill>
                  <a:srgbClr val="FFFFFF"/>
                </a:solidFill>
                <a:latin typeface="Poppins"/>
              </a:defRPr>
            </a:pPr>
            <a:r>
              <a:rPr i="0" sz="1200" b="1">
                <a:solidFill>
                  <a:srgbClr val="FFFFFF"/>
                </a:solidFill>
                <a:latin typeface="Poppins"/>
              </a:rPr>
              <a:t>DW</a:t>
            </a:r>
          </a:p>
        </p:txBody>
      </p:sp>
      <p:sp>
        <p:nvSpPr>
          <p:cNvPr id="10" name="TextBox 9"/>
          <p:cNvSpPr txBox="1"/>
          <p:nvPr/>
        </p:nvSpPr>
        <p:spPr>
          <a:xfrm>
            <a:off x="7248525" y="4724400"/>
            <a:ext cx="12573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1">
                <a:solidFill>
                  <a:srgbClr val="111827"/>
                </a:solidFill>
                <a:latin typeface="Poppins"/>
              </a:defRPr>
            </a:pPr>
            <a:r>
              <a:rPr i="0" sz="1500" b="1">
                <a:solidFill>
                  <a:srgbClr val="111827"/>
                </a:solidFill>
                <a:latin typeface="Poppins"/>
              </a:rPr>
              <a:t>Security</a:t>
            </a:r>
          </a:p>
        </p:txBody>
      </p:sp>
      <p:sp>
        <p:nvSpPr>
          <p:cNvPr id="11" name="TextBox 10"/>
          <p:cNvSpPr txBox="1"/>
          <p:nvPr/>
        </p:nvSpPr>
        <p:spPr>
          <a:xfrm>
            <a:off x="7248525" y="4991100"/>
            <a:ext cx="125730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200" b="0">
                <a:solidFill>
                  <a:srgbClr val="4B5563"/>
                </a:solidFill>
                <a:latin typeface="Poppins"/>
              </a:defRPr>
            </a:pPr>
            <a:r>
              <a:rPr i="0" sz="1200" b="0">
                <a:solidFill>
                  <a:srgbClr val="4B5563"/>
                </a:solidFill>
                <a:latin typeface="Poppins"/>
              </a:rPr>
              <a:t>Terms of 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c976005d-178a-4d8a-9378-4efbb77ae7f8.png"/>
          <p:cNvPicPr>
            <a:picLocks noChangeAspect="1"/>
          </p:cNvPicPr>
          <p:nvPr/>
        </p:nvPicPr>
        <p:blipFill>
          <a:blip r:embed="rId3"/>
          <a:stretch>
            <a:fillRect/>
          </a:stretch>
        </p:blipFill>
        <p:spPr>
          <a:xfrm>
            <a:off x="0" y="5029200"/>
            <a:ext cx="1828800" cy="1828800"/>
          </a:xfrm>
          <a:prstGeom prst="rect">
            <a:avLst/>
          </a:prstGeom>
        </p:spPr>
      </p:pic>
      <p:pic>
        <p:nvPicPr>
          <p:cNvPr id="3" name="Picture 2" descr="a3bb1e41-d03b-430f-8b9f-7c915fdb3953.png"/>
          <p:cNvPicPr>
            <a:picLocks noChangeAspect="1"/>
          </p:cNvPicPr>
          <p:nvPr/>
        </p:nvPicPr>
        <p:blipFill>
          <a:blip r:embed="rId4"/>
          <a:stretch>
            <a:fillRect/>
          </a:stretch>
        </p:blipFill>
        <p:spPr>
          <a:xfrm>
            <a:off x="9753600" y="0"/>
            <a:ext cx="2438400" cy="2438400"/>
          </a:xfrm>
          <a:prstGeom prst="rect">
            <a:avLst/>
          </a:prstGeom>
        </p:spPr>
      </p:pic>
      <p:sp>
        <p:nvSpPr>
          <p:cNvPr id="4" name="Rounded Rectangle 3"/>
          <p:cNvSpPr/>
          <p:nvPr/>
        </p:nvSpPr>
        <p:spPr>
          <a:xfrm>
            <a:off x="838200" y="1676400"/>
            <a:ext cx="4876800" cy="3657600"/>
          </a:xfrm>
          <a:prstGeom prst="roundRect">
            <a:avLst>
              <a:gd name="adj" fmla="val 4687"/>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0a97315c-76f6-4433-8f7a-08fc4d37e359.png"/>
          <p:cNvPicPr>
            <a:picLocks noChangeAspect="1"/>
          </p:cNvPicPr>
          <p:nvPr/>
        </p:nvPicPr>
        <p:blipFill>
          <a:blip r:embed="rId5"/>
          <a:stretch>
            <a:fillRect/>
          </a:stretch>
        </p:blipFill>
        <p:spPr>
          <a:xfrm>
            <a:off x="838200" y="1878806"/>
            <a:ext cx="4876800" cy="3252787"/>
          </a:xfrm>
          <a:prstGeom prst="rect">
            <a:avLst/>
          </a:prstGeom>
        </p:spPr>
      </p:pic>
      <p:sp>
        <p:nvSpPr>
          <p:cNvPr id="6" name="TextBox 5"/>
          <p:cNvSpPr txBox="1"/>
          <p:nvPr/>
        </p:nvSpPr>
        <p:spPr>
          <a:xfrm>
            <a:off x="6400800" y="1781175"/>
            <a:ext cx="5067300" cy="1200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Website Usage </a:t>
            </a:r>
            <a:r>
              <a:rPr i="0" sz="4500" b="1">
                <a:solidFill>
                  <a:srgbClr val="111827"/>
                </a:solidFill>
                <a:latin typeface="Poppins"/>
              </a:rPr>
              <a:t>&amp;</a:t>
            </a:r>
            <a:r>
              <a:rPr i="0" sz="4500" b="1">
                <a:solidFill>
                  <a:srgbClr val="111827"/>
                </a:solidFill>
                <a:latin typeface="Poppins"/>
              </a:rPr>
              <a:t> IP</a:t>
            </a:r>
          </a:p>
        </p:txBody>
      </p:sp>
      <p:sp>
        <p:nvSpPr>
          <p:cNvPr id="7" name="TextBox 6"/>
          <p:cNvSpPr txBox="1"/>
          <p:nvPr/>
        </p:nvSpPr>
        <p:spPr>
          <a:xfrm>
            <a:off x="6400800" y="3181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Users may print/download content for personal, non-commercial use. All materials are copyright-protected. Unauthorized reproduction is prohibited. SSL-secured pages require credentials,</a:t>
            </a:r>
          </a:p>
        </p:txBody>
      </p:sp>
      <p:sp>
        <p:nvSpPr>
          <p:cNvPr id="8" name="TextBox 7"/>
          <p:cNvSpPr txBox="1"/>
          <p:nvPr/>
        </p:nvSpPr>
        <p:spPr>
          <a:xfrm>
            <a:off x="7110710" y="4476750"/>
            <a:ext cx="1018430"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Access Control</a:t>
            </a:r>
          </a:p>
        </p:txBody>
      </p:sp>
      <p:sp>
        <p:nvSpPr>
          <p:cNvPr id="9" name="TextBox 8"/>
          <p:cNvSpPr txBox="1"/>
          <p:nvPr/>
        </p:nvSpPr>
        <p:spPr>
          <a:xfrm>
            <a:off x="7087641" y="4704903"/>
            <a:ext cx="1064716"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SSL-</a:t>
            </a:r>
          </a:p>
        </p:txBody>
      </p:sp>
      <p:sp>
        <p:nvSpPr>
          <p:cNvPr id="10" name="TextBox 9"/>
          <p:cNvSpPr txBox="1"/>
          <p:nvPr/>
        </p:nvSpPr>
        <p:spPr>
          <a:xfrm>
            <a:off x="9721750" y="4476750"/>
            <a:ext cx="1054298"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Data Protection</a:t>
            </a:r>
          </a:p>
        </p:txBody>
      </p:sp>
      <p:sp>
        <p:nvSpPr>
          <p:cNvPr id="11" name="TextBox 10"/>
          <p:cNvSpPr txBox="1"/>
          <p:nvPr/>
        </p:nvSpPr>
        <p:spPr>
          <a:xfrm>
            <a:off x="9669809" y="4704903"/>
            <a:ext cx="1158031"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Auth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457200"/>
            <a:ext cx="107061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Legal</a:t>
            </a:r>
          </a:p>
        </p:txBody>
      </p:sp>
      <p:pic>
        <p:nvPicPr>
          <p:cNvPr id="3" name="Picture 2" descr="ad183829-4596-431f-b989-35a75bc18578.png"/>
          <p:cNvPicPr>
            <a:picLocks noChangeAspect="1"/>
          </p:cNvPicPr>
          <p:nvPr/>
        </p:nvPicPr>
        <p:blipFill>
          <a:blip r:embed="rId3"/>
          <a:stretch>
            <a:fillRect/>
          </a:stretch>
        </p:blipFill>
        <p:spPr>
          <a:xfrm>
            <a:off x="762000" y="1333500"/>
            <a:ext cx="5029200" cy="5219700"/>
          </a:xfrm>
          <a:prstGeom prst="rect">
            <a:avLst/>
          </a:prstGeom>
        </p:spPr>
      </p:pic>
      <p:pic>
        <p:nvPicPr>
          <p:cNvPr id="4" name="Picture 3" descr="de58724f-4956-4db3-b69f-3c3bb4313829.png"/>
          <p:cNvPicPr>
            <a:picLocks noChangeAspect="1"/>
          </p:cNvPicPr>
          <p:nvPr/>
        </p:nvPicPr>
        <p:blipFill>
          <a:blip r:embed="rId4"/>
          <a:stretch>
            <a:fillRect/>
          </a:stretch>
        </p:blipFill>
        <p:spPr>
          <a:xfrm>
            <a:off x="5257800" y="2095500"/>
            <a:ext cx="228600" cy="228600"/>
          </a:xfrm>
          <a:prstGeom prst="rect">
            <a:avLst/>
          </a:prstGeom>
        </p:spPr>
      </p:pic>
      <p:sp>
        <p:nvSpPr>
          <p:cNvPr id="5" name="Rounded Rectangle 4"/>
          <p:cNvSpPr/>
          <p:nvPr/>
        </p:nvSpPr>
        <p:spPr>
          <a:xfrm>
            <a:off x="1143000" y="2419350"/>
            <a:ext cx="42672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2f527ef7-fe9a-43ea-87f2-b8162c4c3954.png"/>
          <p:cNvPicPr>
            <a:picLocks noChangeAspect="1"/>
          </p:cNvPicPr>
          <p:nvPr/>
        </p:nvPicPr>
        <p:blipFill>
          <a:blip r:embed="rId5"/>
          <a:stretch>
            <a:fillRect/>
          </a:stretch>
        </p:blipFill>
        <p:spPr>
          <a:xfrm>
            <a:off x="1143000" y="2419350"/>
            <a:ext cx="4267200" cy="3048000"/>
          </a:xfrm>
          <a:prstGeom prst="rect">
            <a:avLst/>
          </a:prstGeom>
        </p:spPr>
      </p:pic>
      <p:sp>
        <p:nvSpPr>
          <p:cNvPr id="7" name="TextBox 6"/>
          <p:cNvSpPr txBox="1"/>
          <p:nvPr/>
        </p:nvSpPr>
        <p:spPr>
          <a:xfrm>
            <a:off x="6400800" y="2286000"/>
            <a:ext cx="5067300" cy="838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350" b="0">
                <a:solidFill>
                  <a:srgbClr val="4B5563"/>
                </a:solidFill>
                <a:latin typeface="Poppins"/>
              </a:defRPr>
            </a:pPr>
            <a:r>
              <a:rPr i="0" sz="1350" b="0">
                <a:solidFill>
                  <a:srgbClr val="4B5563"/>
                </a:solidFill>
                <a:latin typeface="Poppins"/>
              </a:rPr>
              <a:t>Disputes under DP World services are governed by UAE law, with UAE courts handling contractual matters. Users agree to legal</a:t>
            </a:r>
          </a:p>
        </p:txBody>
      </p:sp>
      <p:sp>
        <p:nvSpPr>
          <p:cNvPr id="8" name="Rounded Rectangle 7"/>
          <p:cNvSpPr/>
          <p:nvPr/>
        </p:nvSpPr>
        <p:spPr>
          <a:xfrm>
            <a:off x="6400800" y="342900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9" name="Picture 8" descr="e8236321-c0bf-4229-a50c-9ffbc581c743.png"/>
          <p:cNvPicPr>
            <a:picLocks noChangeAspect="1"/>
          </p:cNvPicPr>
          <p:nvPr/>
        </p:nvPicPr>
        <p:blipFill>
          <a:blip r:embed="rId6"/>
          <a:stretch>
            <a:fillRect/>
          </a:stretch>
        </p:blipFill>
        <p:spPr>
          <a:xfrm>
            <a:off x="6515100" y="3543300"/>
            <a:ext cx="228600" cy="228600"/>
          </a:xfrm>
          <a:prstGeom prst="rect">
            <a:avLst/>
          </a:prstGeom>
        </p:spPr>
      </p:pic>
      <p:sp>
        <p:nvSpPr>
          <p:cNvPr id="10" name="TextBox 9"/>
          <p:cNvSpPr txBox="1"/>
          <p:nvPr/>
        </p:nvSpPr>
        <p:spPr>
          <a:xfrm>
            <a:off x="7010400" y="342900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UAE Juris</a:t>
            </a:r>
          </a:p>
        </p:txBody>
      </p:sp>
      <p:sp>
        <p:nvSpPr>
          <p:cNvPr id="11" name="Rectangle 10"/>
          <p:cNvSpPr/>
          <p:nvPr/>
        </p:nvSpPr>
        <p:spPr>
          <a:xfrm>
            <a:off x="7010400" y="377190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7010400" y="390525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UAE courts have exclusive jurisdiction over contractual disputes, ensuring legal resolution via</a:t>
            </a:r>
          </a:p>
        </p:txBody>
      </p:sp>
      <p:sp>
        <p:nvSpPr>
          <p:cNvPr id="13" name="Rounded Rectangle 12"/>
          <p:cNvSpPr/>
          <p:nvPr/>
        </p:nvSpPr>
        <p:spPr>
          <a:xfrm>
            <a:off x="6400800" y="462915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ed83ff7f-227d-43c3-a0a2-c9bfa2a2ac9d.png"/>
          <p:cNvPicPr>
            <a:picLocks noChangeAspect="1"/>
          </p:cNvPicPr>
          <p:nvPr/>
        </p:nvPicPr>
        <p:blipFill>
          <a:blip r:embed="rId7"/>
          <a:stretch>
            <a:fillRect/>
          </a:stretch>
        </p:blipFill>
        <p:spPr>
          <a:xfrm>
            <a:off x="6515100" y="4743450"/>
            <a:ext cx="228600" cy="228600"/>
          </a:xfrm>
          <a:prstGeom prst="rect">
            <a:avLst/>
          </a:prstGeom>
        </p:spPr>
      </p:pic>
      <p:sp>
        <p:nvSpPr>
          <p:cNvPr id="15" name="TextBox 14"/>
          <p:cNvSpPr txBox="1"/>
          <p:nvPr/>
        </p:nvSpPr>
        <p:spPr>
          <a:xfrm>
            <a:off x="7010400" y="462915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Policy Terms</a:t>
            </a:r>
          </a:p>
        </p:txBody>
      </p:sp>
      <p:sp>
        <p:nvSpPr>
          <p:cNvPr id="16" name="Rectangle 15"/>
          <p:cNvSpPr/>
          <p:nvPr/>
        </p:nvSpPr>
        <p:spPr>
          <a:xfrm>
            <a:off x="7010400" y="497205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7010400" y="510540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Terms of Use and Acceptable Use Policy outline user responsibilities and liabilities for SSL-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