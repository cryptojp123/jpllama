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DP World Documentation Centre, emphasizing its role as a global trade facilitation hub. Presented by [Presenter Name] on July 11, 2026, it covers core resources, legal compliance, digital accessibility, and IP protections for business operations.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DP World's legal framework for website use. Key points include Terms &amp; Conditions governing usage, UAE law for disputes, contact procedures for content inquiries, and the Acceptable Use Policy ensuring compliance with company standards. Emphasize the importance of legal adherence and user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DP World Documentation Centre website may experience suspensions or restrictions without guaranteed uptime. Major updates are communicated in advance to ensure user preparedness. Free access to all content and tools is available to registered users. This slide highlights website availability, update communication, and access details for registered users.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DP World's intellectual property policies: 1) They retain ownership of all platform content, 2) Users may print/download for personal use, 3) Uploaded content is non-confidential, and 4) Users retain ownership but must agree to DP World's public usage terms.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8748fee6-7f3d-4104-a9ba-beee95bbf7d6.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DP World Digital</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presentation outlines the DP World Documentation Centre's resources, legal framework, website accessibility, and IP policies. The centre provides Terms </a:t>
            </a:r>
            <a:r>
              <a:rPr i="0" sz="1350" b="0">
                <a:solidFill>
                  <a:srgbClr val="4B5563"/>
                </a:solidFill>
                <a:latin typeface="Poppins"/>
              </a:rPr>
              <a:t>&amp;</a:t>
            </a:r>
            <a:r>
              <a:rPr i="0" sz="1350" b="0">
                <a:solidFill>
                  <a:srgbClr val="4B5563"/>
                </a:solidFill>
                <a:latin typeface="Poppins"/>
              </a:rPr>
              <a:t> Conditions, tools, and insights to streamline全球贸易.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acb8432c-d370-4743-8edb-939248233a1f.png"/>
          <p:cNvPicPr>
            <a:picLocks noChangeAspect="1"/>
          </p:cNvPicPr>
          <p:nvPr/>
        </p:nvPicPr>
        <p:blipFill>
          <a:blip r:embed="rId3"/>
          <a:stretch>
            <a:fillRect/>
          </a:stretch>
        </p:blipFill>
        <p:spPr>
          <a:xfrm>
            <a:off x="0" y="0"/>
            <a:ext cx="1219200" cy="6858000"/>
          </a:xfrm>
          <a:prstGeom prst="rect">
            <a:avLst/>
          </a:prstGeom>
        </p:spPr>
      </p:pic>
      <p:pic>
        <p:nvPicPr>
          <p:cNvPr id="3" name="Picture 2" descr="8ae35fe9-b428-4644-9193-a803a5ff6f6d.png"/>
          <p:cNvPicPr>
            <a:picLocks noChangeAspect="1"/>
          </p:cNvPicPr>
          <p:nvPr/>
        </p:nvPicPr>
        <p:blipFill>
          <a:blip r:embed="rId4"/>
          <a:stretch>
            <a:fillRect/>
          </a:stretch>
        </p:blipFill>
        <p:spPr>
          <a:xfrm>
            <a:off x="0" y="5638800"/>
            <a:ext cx="1828800" cy="1219200"/>
          </a:xfrm>
          <a:prstGeom prst="rect">
            <a:avLst/>
          </a:prstGeom>
        </p:spPr>
      </p:pic>
      <p:pic>
        <p:nvPicPr>
          <p:cNvPr id="4" name="Picture 3" descr="d6e48a5b-2395-465c-af62-e63cd89a1f8a.png"/>
          <p:cNvPicPr>
            <a:picLocks noChangeAspect="1"/>
          </p:cNvPicPr>
          <p:nvPr/>
        </p:nvPicPr>
        <p:blipFill>
          <a:blip r:embed="rId5"/>
          <a:stretch>
            <a:fillRect/>
          </a:stretch>
        </p:blipFill>
        <p:spPr>
          <a:xfrm>
            <a:off x="10820400" y="762000"/>
            <a:ext cx="304800" cy="304800"/>
          </a:xfrm>
          <a:prstGeom prst="rect">
            <a:avLst/>
          </a:prstGeom>
        </p:spPr>
      </p:pic>
      <p:pic>
        <p:nvPicPr>
          <p:cNvPr id="5" name="Picture 4" descr="a2e14458-036e-4486-b072-a3e3e5325a95.png"/>
          <p:cNvPicPr>
            <a:picLocks noChangeAspect="1"/>
          </p:cNvPicPr>
          <p:nvPr/>
        </p:nvPicPr>
        <p:blipFill>
          <a:blip r:embed="rId6"/>
          <a:stretch>
            <a:fillRect/>
          </a:stretch>
        </p:blipFill>
        <p:spPr>
          <a:xfrm>
            <a:off x="8077200" y="1066800"/>
            <a:ext cx="762000" cy="190500"/>
          </a:xfrm>
          <a:prstGeom prst="rect">
            <a:avLst/>
          </a:prstGeom>
        </p:spPr>
      </p:pic>
      <p:sp>
        <p:nvSpPr>
          <p:cNvPr id="6" name="TextBox 5"/>
          <p:cNvSpPr txBox="1"/>
          <p:nvPr/>
        </p:nvSpPr>
        <p:spPr>
          <a:xfrm>
            <a:off x="762000" y="457200"/>
            <a:ext cx="674370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5400" b="1">
                <a:solidFill>
                  <a:srgbClr val="111827"/>
                </a:solidFill>
                <a:latin typeface="Poppins"/>
              </a:defRPr>
            </a:pPr>
            <a:r>
              <a:rPr i="0" sz="5400" b="1">
                <a:solidFill>
                  <a:srgbClr val="111827"/>
                </a:solidFill>
                <a:latin typeface="Poppins"/>
              </a:rPr>
              <a:t>Legal </a:t>
            </a:r>
            <a:r>
              <a:rPr i="0" sz="5400" b="1">
                <a:solidFill>
                  <a:srgbClr val="111827"/>
                </a:solidFill>
                <a:latin typeface="Poppins"/>
              </a:rPr>
              <a:t>&amp;</a:t>
            </a:r>
            <a:r>
              <a:rPr i="0" sz="5400" b="1">
                <a:solidFill>
                  <a:srgbClr val="111827"/>
                </a:solidFill>
                <a:latin typeface="Poppins"/>
              </a:rPr>
              <a:t>合规</a:t>
            </a:r>
          </a:p>
        </p:txBody>
      </p:sp>
      <p:sp>
        <p:nvSpPr>
          <p:cNvPr id="7" name="Rounded Rectangle 6"/>
          <p:cNvSpPr/>
          <p:nvPr/>
        </p:nvSpPr>
        <p:spPr>
          <a:xfrm>
            <a:off x="914400" y="2778918"/>
            <a:ext cx="457200" cy="457200"/>
          </a:xfrm>
          <a:prstGeom prst="roundRect">
            <a:avLst>
              <a:gd name="adj" fmla="val 1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114300" bIns="114300"/>
          <a:lstStyle/>
          <a:p>
            <a:pPr algn="ctr"/>
          </a:p>
        </p:txBody>
      </p:sp>
      <p:pic>
        <p:nvPicPr>
          <p:cNvPr id="8" name="Picture 7" descr="72499523-c6c6-4401-9d25-fb6bc5e6854e.png"/>
          <p:cNvPicPr>
            <a:picLocks noChangeAspect="1"/>
          </p:cNvPicPr>
          <p:nvPr/>
        </p:nvPicPr>
        <p:blipFill>
          <a:blip r:embed="rId7"/>
          <a:stretch>
            <a:fillRect/>
          </a:stretch>
        </p:blipFill>
        <p:spPr>
          <a:xfrm>
            <a:off x="1028700" y="2893218"/>
            <a:ext cx="228600" cy="228600"/>
          </a:xfrm>
          <a:prstGeom prst="rect">
            <a:avLst/>
          </a:prstGeom>
        </p:spPr>
      </p:pic>
      <p:sp>
        <p:nvSpPr>
          <p:cNvPr id="9" name="TextBox 8"/>
          <p:cNvSpPr txBox="1"/>
          <p:nvPr/>
        </p:nvSpPr>
        <p:spPr>
          <a:xfrm>
            <a:off x="1524000" y="2778918"/>
            <a:ext cx="2362200" cy="25568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Usage Governance</a:t>
            </a:r>
          </a:p>
        </p:txBody>
      </p:sp>
      <p:sp>
        <p:nvSpPr>
          <p:cNvPr id="10" name="TextBox 9"/>
          <p:cNvSpPr txBox="1"/>
          <p:nvPr/>
        </p:nvSpPr>
        <p:spPr>
          <a:xfrm>
            <a:off x="1524000" y="3072705"/>
            <a:ext cx="2362200" cy="622994"/>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4B5563"/>
                </a:solidFill>
                <a:latin typeface="Poppins"/>
              </a:defRPr>
            </a:pPr>
            <a:r>
              <a:rPr i="0" sz="1050" b="0">
                <a:solidFill>
                  <a:srgbClr val="4B5563"/>
                </a:solidFill>
                <a:latin typeface="Poppins"/>
              </a:rPr>
              <a:t>The DP World Documentation Centre governs website usage through legally bound</a:t>
            </a:r>
          </a:p>
        </p:txBody>
      </p:sp>
      <p:sp>
        <p:nvSpPr>
          <p:cNvPr id="11" name="Rounded Rectangle 10"/>
          <p:cNvSpPr/>
          <p:nvPr/>
        </p:nvSpPr>
        <p:spPr>
          <a:xfrm>
            <a:off x="4381500" y="2778918"/>
            <a:ext cx="457200" cy="457200"/>
          </a:xfrm>
          <a:prstGeom prst="roundRect">
            <a:avLst>
              <a:gd name="adj" fmla="val 1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114300" bIns="114300"/>
          <a:lstStyle/>
          <a:p>
            <a:pPr algn="ctr"/>
          </a:p>
        </p:txBody>
      </p:sp>
      <p:pic>
        <p:nvPicPr>
          <p:cNvPr id="12" name="Picture 11" descr="28524899-495c-43c3-bd6e-4f008f114549.png"/>
          <p:cNvPicPr>
            <a:picLocks noChangeAspect="1"/>
          </p:cNvPicPr>
          <p:nvPr/>
        </p:nvPicPr>
        <p:blipFill>
          <a:blip r:embed="rId8"/>
          <a:stretch>
            <a:fillRect/>
          </a:stretch>
        </p:blipFill>
        <p:spPr>
          <a:xfrm>
            <a:off x="4495800" y="2893218"/>
            <a:ext cx="228600" cy="228600"/>
          </a:xfrm>
          <a:prstGeom prst="rect">
            <a:avLst/>
          </a:prstGeom>
        </p:spPr>
      </p:pic>
      <p:sp>
        <p:nvSpPr>
          <p:cNvPr id="13" name="TextBox 12"/>
          <p:cNvSpPr txBox="1"/>
          <p:nvPr/>
        </p:nvSpPr>
        <p:spPr>
          <a:xfrm>
            <a:off x="4991100" y="2778918"/>
            <a:ext cx="2362200" cy="25568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Dispute Resolution</a:t>
            </a:r>
          </a:p>
        </p:txBody>
      </p:sp>
      <p:sp>
        <p:nvSpPr>
          <p:cNvPr id="14" name="TextBox 13"/>
          <p:cNvSpPr txBox="1"/>
          <p:nvPr/>
        </p:nvSpPr>
        <p:spPr>
          <a:xfrm>
            <a:off x="4991100" y="3072705"/>
            <a:ext cx="2362200" cy="622994"/>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4B5563"/>
                </a:solidFill>
                <a:latin typeface="Poppins"/>
              </a:defRPr>
            </a:pPr>
            <a:r>
              <a:rPr i="0" sz="1050" b="0">
                <a:solidFill>
                  <a:srgbClr val="4B5563"/>
                </a:solidFill>
                <a:latin typeface="Poppins"/>
              </a:rPr>
              <a:t>All disputes are subject to UAE law and resolved in UAE courts per terms</a:t>
            </a:r>
          </a:p>
        </p:txBody>
      </p:sp>
      <p:sp>
        <p:nvSpPr>
          <p:cNvPr id="15" name="Rounded Rectangle 14"/>
          <p:cNvSpPr/>
          <p:nvPr/>
        </p:nvSpPr>
        <p:spPr>
          <a:xfrm>
            <a:off x="914400" y="4267200"/>
            <a:ext cx="457200" cy="457200"/>
          </a:xfrm>
          <a:prstGeom prst="roundRect">
            <a:avLst>
              <a:gd name="adj" fmla="val 1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114300" bIns="114300"/>
          <a:lstStyle/>
          <a:p>
            <a:pPr algn="ctr"/>
          </a:p>
        </p:txBody>
      </p:sp>
      <p:pic>
        <p:nvPicPr>
          <p:cNvPr id="16" name="Picture 15" descr="1541a3bc-6a38-4bd3-9410-93fa64d475d8.png"/>
          <p:cNvPicPr>
            <a:picLocks noChangeAspect="1"/>
          </p:cNvPicPr>
          <p:nvPr/>
        </p:nvPicPr>
        <p:blipFill>
          <a:blip r:embed="rId9"/>
          <a:stretch>
            <a:fillRect/>
          </a:stretch>
        </p:blipFill>
        <p:spPr>
          <a:xfrm>
            <a:off x="1028700" y="4381500"/>
            <a:ext cx="228600" cy="228600"/>
          </a:xfrm>
          <a:prstGeom prst="rect">
            <a:avLst/>
          </a:prstGeom>
        </p:spPr>
      </p:pic>
      <p:sp>
        <p:nvSpPr>
          <p:cNvPr id="17" name="TextBox 16"/>
          <p:cNvSpPr txBox="1"/>
          <p:nvPr/>
        </p:nvSpPr>
        <p:spPr>
          <a:xfrm>
            <a:off x="1524000" y="4267200"/>
            <a:ext cx="2362200" cy="25568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Support Contact</a:t>
            </a:r>
          </a:p>
        </p:txBody>
      </p:sp>
      <p:sp>
        <p:nvSpPr>
          <p:cNvPr id="18" name="TextBox 17"/>
          <p:cNvSpPr txBox="1"/>
          <p:nvPr/>
        </p:nvSpPr>
        <p:spPr>
          <a:xfrm>
            <a:off x="1524000" y="4560986"/>
            <a:ext cx="2362200" cy="622994"/>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4B5563"/>
                </a:solidFill>
                <a:latin typeface="Poppins"/>
              </a:defRPr>
            </a:pPr>
            <a:r>
              <a:rPr i="0" sz="1050" b="0">
                <a:solidFill>
                  <a:srgbClr val="4B5563"/>
                </a:solidFill>
                <a:latin typeface="Poppins"/>
              </a:rPr>
              <a:t>Users must contact [email protected] for content usage inquiries and policy</a:t>
            </a:r>
          </a:p>
        </p:txBody>
      </p:sp>
      <p:sp>
        <p:nvSpPr>
          <p:cNvPr id="19" name="Rounded Rectangle 18"/>
          <p:cNvSpPr/>
          <p:nvPr/>
        </p:nvSpPr>
        <p:spPr>
          <a:xfrm>
            <a:off x="4381500" y="4267200"/>
            <a:ext cx="457200" cy="457200"/>
          </a:xfrm>
          <a:prstGeom prst="roundRect">
            <a:avLst>
              <a:gd name="adj" fmla="val 15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114300" bIns="114300"/>
          <a:lstStyle/>
          <a:p>
            <a:pPr algn="ctr"/>
          </a:p>
        </p:txBody>
      </p:sp>
      <p:pic>
        <p:nvPicPr>
          <p:cNvPr id="20" name="Picture 19" descr="20e4e7f0-5d8e-4071-aaf7-b4831cf7444a.png"/>
          <p:cNvPicPr>
            <a:picLocks noChangeAspect="1"/>
          </p:cNvPicPr>
          <p:nvPr/>
        </p:nvPicPr>
        <p:blipFill>
          <a:blip r:embed="rId10"/>
          <a:stretch>
            <a:fillRect/>
          </a:stretch>
        </p:blipFill>
        <p:spPr>
          <a:xfrm>
            <a:off x="4495800" y="4381500"/>
            <a:ext cx="228600" cy="228600"/>
          </a:xfrm>
          <a:prstGeom prst="rect">
            <a:avLst/>
          </a:prstGeom>
        </p:spPr>
      </p:pic>
      <p:sp>
        <p:nvSpPr>
          <p:cNvPr id="21" name="TextBox 20"/>
          <p:cNvSpPr txBox="1"/>
          <p:nvPr/>
        </p:nvSpPr>
        <p:spPr>
          <a:xfrm>
            <a:off x="4991100" y="4267200"/>
            <a:ext cx="2362200" cy="25568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Content Standards</a:t>
            </a:r>
          </a:p>
        </p:txBody>
      </p:sp>
      <p:sp>
        <p:nvSpPr>
          <p:cNvPr id="22" name="TextBox 21"/>
          <p:cNvSpPr txBox="1"/>
          <p:nvPr/>
        </p:nvSpPr>
        <p:spPr>
          <a:xfrm>
            <a:off x="4991100" y="4560986"/>
            <a:ext cx="2362200" cy="622994"/>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4B5563"/>
                </a:solidFill>
                <a:latin typeface="Poppins"/>
              </a:defRPr>
            </a:pPr>
            <a:r>
              <a:rPr i="0" sz="1050" b="0">
                <a:solidFill>
                  <a:srgbClr val="4B5563"/>
                </a:solidFill>
                <a:latin typeface="Poppins"/>
              </a:rPr>
              <a:t>Acceptable Use Policy applies to user-generated content ensuring DP World's</a:t>
            </a:r>
          </a:p>
        </p:txBody>
      </p:sp>
      <p:sp>
        <p:nvSpPr>
          <p:cNvPr id="23" name="Rounded Rectangle 22"/>
          <p:cNvSpPr/>
          <p:nvPr/>
        </p:nvSpPr>
        <p:spPr>
          <a:xfrm>
            <a:off x="7772400" y="1981200"/>
            <a:ext cx="36576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4" name="Picture 23" descr="31691a45-dc24-4cfb-ad3f-950b503ab382.png"/>
          <p:cNvPicPr>
            <a:picLocks noChangeAspect="1"/>
          </p:cNvPicPr>
          <p:nvPr/>
        </p:nvPicPr>
        <p:blipFill>
          <a:blip r:embed="rId11"/>
          <a:stretch>
            <a:fillRect/>
          </a:stretch>
        </p:blipFill>
        <p:spPr>
          <a:xfrm>
            <a:off x="7772400" y="1981200"/>
            <a:ext cx="3657600" cy="304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276225"/>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Website Av</a:t>
            </a:r>
          </a:p>
        </p:txBody>
      </p:sp>
      <p:sp>
        <p:nvSpPr>
          <p:cNvPr id="3" name="TextBox 2"/>
          <p:cNvSpPr txBox="1"/>
          <p:nvPr/>
        </p:nvSpPr>
        <p:spPr>
          <a:xfrm>
            <a:off x="762000" y="1028700"/>
            <a:ext cx="73533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The DP World Documentation Centre website may experience suspensions or restrictions without guaranteed uptime. Major update</a:t>
            </a:r>
          </a:p>
        </p:txBody>
      </p:sp>
      <p:sp>
        <p:nvSpPr>
          <p:cNvPr id="4" name="Rounded Rectangle 3"/>
          <p:cNvSpPr/>
          <p:nvPr/>
        </p:nvSpPr>
        <p:spPr>
          <a:xfrm>
            <a:off x="762000" y="1828800"/>
            <a:ext cx="7315200" cy="4724400"/>
          </a:xfrm>
          <a:prstGeom prst="roundRect">
            <a:avLst>
              <a:gd name="adj" fmla="val 1209"/>
            </a:avLst>
          </a:prstGeom>
          <a:solidFill>
            <a:srgbClr val="FFFFFF"/>
          </a:solidFill>
          <a:ln w="9525">
            <a:solidFill>
              <a:srgbClr val="F8F9FA"/>
            </a:solidFill>
          </a:ln>
          <a:effectLst>
            <a:outerShdw blurRad="19050" dir="5400000" dist="9525" rotWithShape="0">
              <a:srgbClr val="000000">
                <a:alpha val="51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b0ce9e96-0d81-437f-bf10-187d81544d40.png"/>
          <p:cNvPicPr>
            <a:picLocks noChangeAspect="1"/>
          </p:cNvPicPr>
          <p:nvPr/>
        </p:nvPicPr>
        <p:blipFill>
          <a:blip r:embed="rId3"/>
          <a:stretch>
            <a:fillRect/>
          </a:stretch>
        </p:blipFill>
        <p:spPr>
          <a:xfrm>
            <a:off x="923925" y="1990725"/>
            <a:ext cx="6991350" cy="4381500"/>
          </a:xfrm>
          <a:prstGeom prst="rect">
            <a:avLst/>
          </a:prstGeom>
        </p:spPr>
      </p:pic>
      <p:sp>
        <p:nvSpPr>
          <p:cNvPr id="6" name="Rectangle 5"/>
          <p:cNvSpPr/>
          <p:nvPr/>
        </p:nvSpPr>
        <p:spPr>
          <a:xfrm>
            <a:off x="8382000" y="971550"/>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5f585260-8429-4b9f-8a15-f84d99adc8a3.png"/>
          <p:cNvPicPr>
            <a:picLocks noChangeAspect="1"/>
          </p:cNvPicPr>
          <p:nvPr/>
        </p:nvPicPr>
        <p:blipFill>
          <a:blip r:embed="rId4"/>
          <a:stretch>
            <a:fillRect/>
          </a:stretch>
        </p:blipFill>
        <p:spPr>
          <a:xfrm>
            <a:off x="8663880" y="1377255"/>
            <a:ext cx="190500" cy="190500"/>
          </a:xfrm>
          <a:prstGeom prst="rect">
            <a:avLst/>
          </a:prstGeom>
        </p:spPr>
      </p:pic>
      <p:sp>
        <p:nvSpPr>
          <p:cNvPr id="8" name="TextBox 7"/>
          <p:cNvSpPr txBox="1"/>
          <p:nvPr/>
        </p:nvSpPr>
        <p:spPr>
          <a:xfrm>
            <a:off x="9021960" y="1200150"/>
            <a:ext cx="221739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Website Availability</a:t>
            </a:r>
          </a:p>
        </p:txBody>
      </p:sp>
      <p:sp>
        <p:nvSpPr>
          <p:cNvPr id="9" name="TextBox 8"/>
          <p:cNvSpPr txBox="1"/>
          <p:nvPr/>
        </p:nvSpPr>
        <p:spPr>
          <a:xfrm>
            <a:off x="8610600" y="1847850"/>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Website Availability: May experience suspensions or restrictions at</a:t>
            </a:r>
          </a:p>
        </p:txBody>
      </p:sp>
      <p:sp>
        <p:nvSpPr>
          <p:cNvPr id="10" name="Rectangle 9"/>
          <p:cNvSpPr/>
          <p:nvPr/>
        </p:nvSpPr>
        <p:spPr>
          <a:xfrm>
            <a:off x="8382000" y="2660749"/>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1" name="Picture 10" descr="5f585260-8429-4b9f-8a15-f84d99adc8a3.png"/>
          <p:cNvPicPr>
            <a:picLocks noChangeAspect="1"/>
          </p:cNvPicPr>
          <p:nvPr/>
        </p:nvPicPr>
        <p:blipFill>
          <a:blip r:embed="rId4"/>
          <a:stretch>
            <a:fillRect/>
          </a:stretch>
        </p:blipFill>
        <p:spPr>
          <a:xfrm>
            <a:off x="8648700" y="3066454"/>
            <a:ext cx="190500" cy="190500"/>
          </a:xfrm>
          <a:prstGeom prst="rect">
            <a:avLst/>
          </a:prstGeom>
        </p:spPr>
      </p:pic>
      <p:sp>
        <p:nvSpPr>
          <p:cNvPr id="12" name="TextBox 11"/>
          <p:cNvSpPr txBox="1"/>
          <p:nvPr/>
        </p:nvSpPr>
        <p:spPr>
          <a:xfrm>
            <a:off x="8989665" y="2889349"/>
            <a:ext cx="2249685"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Major Updates</a:t>
            </a:r>
          </a:p>
        </p:txBody>
      </p:sp>
      <p:sp>
        <p:nvSpPr>
          <p:cNvPr id="13" name="TextBox 12"/>
          <p:cNvSpPr txBox="1"/>
          <p:nvPr/>
        </p:nvSpPr>
        <p:spPr>
          <a:xfrm>
            <a:off x="8610600" y="3537049"/>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Major Updates: Communicated in advance to ensure user preparedness</a:t>
            </a:r>
          </a:p>
        </p:txBody>
      </p:sp>
      <p:sp>
        <p:nvSpPr>
          <p:cNvPr id="14" name="Rectangle 13"/>
          <p:cNvSpPr/>
          <p:nvPr/>
        </p:nvSpPr>
        <p:spPr>
          <a:xfrm>
            <a:off x="8382000" y="4349799"/>
            <a:ext cx="3048000" cy="1538287"/>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5" name="Picture 14" descr="5f585260-8429-4b9f-8a15-f84d99adc8a3.png"/>
          <p:cNvPicPr>
            <a:picLocks noChangeAspect="1"/>
          </p:cNvPicPr>
          <p:nvPr/>
        </p:nvPicPr>
        <p:blipFill>
          <a:blip r:embed="rId4"/>
          <a:stretch>
            <a:fillRect/>
          </a:stretch>
        </p:blipFill>
        <p:spPr>
          <a:xfrm>
            <a:off x="8640960" y="4755505"/>
            <a:ext cx="190500" cy="190500"/>
          </a:xfrm>
          <a:prstGeom prst="rect">
            <a:avLst/>
          </a:prstGeom>
        </p:spPr>
      </p:pic>
      <p:sp>
        <p:nvSpPr>
          <p:cNvPr id="16" name="TextBox 15"/>
          <p:cNvSpPr txBox="1"/>
          <p:nvPr/>
        </p:nvSpPr>
        <p:spPr>
          <a:xfrm>
            <a:off x="8976270" y="4578399"/>
            <a:ext cx="226308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FFFFFF"/>
                </a:solidFill>
                <a:latin typeface="Poppins"/>
              </a:defRPr>
            </a:pPr>
            <a:r>
              <a:rPr i="0" sz="1350" b="0">
                <a:solidFill>
                  <a:srgbClr val="FFFFFF"/>
                </a:solidFill>
                <a:latin typeface="Poppins"/>
              </a:rPr>
              <a:t>Free Access for Users</a:t>
            </a:r>
          </a:p>
        </p:txBody>
      </p:sp>
      <p:sp>
        <p:nvSpPr>
          <p:cNvPr id="17" name="TextBox 16"/>
          <p:cNvSpPr txBox="1"/>
          <p:nvPr/>
        </p:nvSpPr>
        <p:spPr>
          <a:xfrm>
            <a:off x="8610600" y="5226099"/>
            <a:ext cx="2628900" cy="438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050" b="0">
                <a:solidFill>
                  <a:srgbClr val="FFFFFF"/>
                </a:solidFill>
                <a:latin typeface="Poppins"/>
              </a:defRPr>
            </a:pPr>
            <a:r>
              <a:rPr i="0" sz="1050" b="0">
                <a:solidFill>
                  <a:srgbClr val="FFFFFF"/>
                </a:solidFill>
                <a:latin typeface="Poppins"/>
              </a:rPr>
              <a:t>Free Access: Available to registered users for all content 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01f57aa6-1027-4938-aeef-83929bad74e7.png"/>
          <p:cNvPicPr>
            <a:picLocks noChangeAspect="1"/>
          </p:cNvPicPr>
          <p:nvPr/>
        </p:nvPicPr>
        <p:blipFill>
          <a:blip r:embed="rId3"/>
          <a:stretch>
            <a:fillRect/>
          </a:stretch>
        </p:blipFill>
        <p:spPr>
          <a:xfrm>
            <a:off x="0" y="6096000"/>
            <a:ext cx="12192000" cy="762000"/>
          </a:xfrm>
          <a:prstGeom prst="rect">
            <a:avLst/>
          </a:prstGeom>
        </p:spPr>
      </p:pic>
      <p:sp>
        <p:nvSpPr>
          <p:cNvPr id="3" name="TextBox 2"/>
          <p:cNvSpPr txBox="1"/>
          <p:nvPr/>
        </p:nvSpPr>
        <p:spPr>
          <a:xfrm>
            <a:off x="762000" y="457200"/>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Intellectual Prop</a:t>
            </a:r>
          </a:p>
        </p:txBody>
      </p:sp>
      <p:sp>
        <p:nvSpPr>
          <p:cNvPr id="4" name="Rectangle 3"/>
          <p:cNvSpPr/>
          <p:nvPr/>
        </p:nvSpPr>
        <p:spPr>
          <a:xfrm>
            <a:off x="762000" y="1181100"/>
            <a:ext cx="9144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8852a0a4-586e-4b87-ad64-8d30335a38a8.png"/>
          <p:cNvPicPr>
            <a:picLocks noChangeAspect="1"/>
          </p:cNvPicPr>
          <p:nvPr/>
        </p:nvPicPr>
        <p:blipFill>
          <a:blip r:embed="rId4"/>
          <a:stretch>
            <a:fillRect/>
          </a:stretch>
        </p:blipFill>
        <p:spPr>
          <a:xfrm>
            <a:off x="8382000" y="457200"/>
            <a:ext cx="3048000" cy="1828800"/>
          </a:xfrm>
          <a:prstGeom prst="rect">
            <a:avLst/>
          </a:prstGeom>
        </p:spPr>
      </p:pic>
      <p:sp>
        <p:nvSpPr>
          <p:cNvPr id="6" name="TextBox 5"/>
          <p:cNvSpPr txBox="1"/>
          <p:nvPr/>
        </p:nvSpPr>
        <p:spPr>
          <a:xfrm>
            <a:off x="762000" y="2590800"/>
            <a:ext cx="50824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7" name="TextBox 6"/>
          <p:cNvSpPr txBox="1"/>
          <p:nvPr/>
        </p:nvSpPr>
        <p:spPr>
          <a:xfrm>
            <a:off x="1384548" y="2667000"/>
            <a:ext cx="4597003"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Ownership </a:t>
            </a:r>
            <a:r>
              <a:rPr i="0" sz="1800" b="1">
                <a:solidFill>
                  <a:srgbClr val="111827"/>
                </a:solidFill>
                <a:latin typeface="Poppins"/>
              </a:rPr>
              <a:t>&amp;</a:t>
            </a:r>
            <a:r>
              <a:rPr i="0" sz="1800" b="1">
                <a:solidFill>
                  <a:srgbClr val="111827"/>
                </a:solidFill>
                <a:latin typeface="Poppins"/>
              </a:rPr>
              <a:t> Licen</a:t>
            </a:r>
          </a:p>
        </p:txBody>
      </p:sp>
      <p:sp>
        <p:nvSpPr>
          <p:cNvPr id="8" name="TextBox 7"/>
          <p:cNvSpPr txBox="1"/>
          <p:nvPr/>
        </p:nvSpPr>
        <p:spPr>
          <a:xfrm>
            <a:off x="1384548" y="3086100"/>
            <a:ext cx="4597003" cy="7429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retains ownership or licensing rights for all intellectual property on the platform. Users may print or download c</a:t>
            </a:r>
          </a:p>
        </p:txBody>
      </p:sp>
      <p:sp>
        <p:nvSpPr>
          <p:cNvPr id="9" name="TextBox 8"/>
          <p:cNvSpPr txBox="1"/>
          <p:nvPr/>
        </p:nvSpPr>
        <p:spPr>
          <a:xfrm>
            <a:off x="6248400" y="2590800"/>
            <a:ext cx="59739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0" name="TextBox 9"/>
          <p:cNvSpPr txBox="1"/>
          <p:nvPr/>
        </p:nvSpPr>
        <p:spPr>
          <a:xfrm>
            <a:off x="6960096" y="2667000"/>
            <a:ext cx="450785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Ownership </a:t>
            </a:r>
            <a:r>
              <a:rPr i="0" sz="1800" b="1">
                <a:solidFill>
                  <a:srgbClr val="111827"/>
                </a:solidFill>
                <a:latin typeface="Poppins"/>
              </a:rPr>
              <a:t>&amp;</a:t>
            </a:r>
            <a:r>
              <a:rPr i="0" sz="1800" b="1">
                <a:solidFill>
                  <a:srgbClr val="111827"/>
                </a:solidFill>
                <a:latin typeface="Poppins"/>
              </a:rPr>
              <a:t> Licen</a:t>
            </a:r>
          </a:p>
        </p:txBody>
      </p:sp>
      <p:sp>
        <p:nvSpPr>
          <p:cNvPr id="11" name="TextBox 10"/>
          <p:cNvSpPr txBox="1"/>
          <p:nvPr/>
        </p:nvSpPr>
        <p:spPr>
          <a:xfrm>
            <a:off x="6960096" y="3086100"/>
            <a:ext cx="450785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retains ownership or licensing rights for all intellectual property on the platform. Users may print or download c</a:t>
            </a:r>
          </a:p>
        </p:txBody>
      </p:sp>
      <p:sp>
        <p:nvSpPr>
          <p:cNvPr id="12" name="TextBox 11"/>
          <p:cNvSpPr txBox="1"/>
          <p:nvPr/>
        </p:nvSpPr>
        <p:spPr>
          <a:xfrm>
            <a:off x="762000" y="4133850"/>
            <a:ext cx="61272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3" name="TextBox 12"/>
          <p:cNvSpPr txBox="1"/>
          <p:nvPr/>
        </p:nvSpPr>
        <p:spPr>
          <a:xfrm>
            <a:off x="1489025" y="4210050"/>
            <a:ext cx="449252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Ownership </a:t>
            </a:r>
            <a:r>
              <a:rPr i="0" sz="1800" b="1">
                <a:solidFill>
                  <a:srgbClr val="111827"/>
                </a:solidFill>
                <a:latin typeface="Poppins"/>
              </a:rPr>
              <a:t>&amp;</a:t>
            </a:r>
            <a:r>
              <a:rPr i="0" sz="1800" b="1">
                <a:solidFill>
                  <a:srgbClr val="111827"/>
                </a:solidFill>
                <a:latin typeface="Poppins"/>
              </a:rPr>
              <a:t> Licen</a:t>
            </a:r>
          </a:p>
        </p:txBody>
      </p:sp>
      <p:sp>
        <p:nvSpPr>
          <p:cNvPr id="14" name="TextBox 13"/>
          <p:cNvSpPr txBox="1"/>
          <p:nvPr/>
        </p:nvSpPr>
        <p:spPr>
          <a:xfrm>
            <a:off x="1489025" y="4629150"/>
            <a:ext cx="449252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retains ownership or licensing rights for all intellectual property on the platform. Users may print or download c</a:t>
            </a:r>
          </a:p>
        </p:txBody>
      </p:sp>
      <p:sp>
        <p:nvSpPr>
          <p:cNvPr id="15" name="TextBox 14"/>
          <p:cNvSpPr txBox="1"/>
          <p:nvPr/>
        </p:nvSpPr>
        <p:spPr>
          <a:xfrm>
            <a:off x="6248400" y="4133850"/>
            <a:ext cx="64576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6" name="TextBox 15"/>
          <p:cNvSpPr txBox="1"/>
          <p:nvPr/>
        </p:nvSpPr>
        <p:spPr>
          <a:xfrm>
            <a:off x="7008465" y="4210050"/>
            <a:ext cx="445948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Ownership </a:t>
            </a:r>
            <a:r>
              <a:rPr i="0" sz="1800" b="1">
                <a:solidFill>
                  <a:srgbClr val="111827"/>
                </a:solidFill>
                <a:latin typeface="Poppins"/>
              </a:rPr>
              <a:t>&amp;</a:t>
            </a:r>
            <a:r>
              <a:rPr i="0" sz="1800" b="1">
                <a:solidFill>
                  <a:srgbClr val="111827"/>
                </a:solidFill>
                <a:latin typeface="Poppins"/>
              </a:rPr>
              <a:t> Licen</a:t>
            </a:r>
          </a:p>
        </p:txBody>
      </p:sp>
      <p:sp>
        <p:nvSpPr>
          <p:cNvPr id="17" name="TextBox 16"/>
          <p:cNvSpPr txBox="1"/>
          <p:nvPr/>
        </p:nvSpPr>
        <p:spPr>
          <a:xfrm>
            <a:off x="7008465" y="4629150"/>
            <a:ext cx="445948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retains ownership or licensing rights for all intellectual property on the platform. Users may print or download 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