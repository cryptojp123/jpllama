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DP World Documentation Centre as a global resource hub. Highlight its role in centralizing legal documents, supporting trade compliance, and operating under UAE law. Emphasize the benefits of streamlined access to dispute resolution frameworks and operational guidelines.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key policies for DP World platform users: personal use restrictions, prohibition on commercial redistribution, service availability terms, and user ownership rights for uploaded content. Emphasize that all materials are non-confidential and access terms may change without notice.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legal framework, emphasizing UAE jurisdiction, user indemnification requirements, and policy governance for platform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DP World's ownership of all intellectual property on its websites. Copyright laws protect proprietary content, and unauthorized use is prohibited. Access to glossaries, case studies, and whitepapers supports compliance, ensuring adherence to intellectual property regulations.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5df4061c-a695-466d-9821-cd780fe4fe93.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Docs</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Centralized platform for Terms </a:t>
            </a:r>
            <a:r>
              <a:rPr i="0" sz="1350" b="0">
                <a:solidFill>
                  <a:srgbClr val="4B5563"/>
                </a:solidFill>
                <a:latin typeface="Poppins"/>
              </a:rPr>
              <a:t>&amp;</a:t>
            </a:r>
            <a:r>
              <a:rPr i="0" sz="1350" b="0">
                <a:solidFill>
                  <a:srgbClr val="4B5563"/>
                </a:solidFill>
                <a:latin typeface="Poppins"/>
              </a:rPr>
              <a:t> Conditions, legal policies, and operational guidelines. Offers global trade insights, compliance tools, and resources under UAE law to ensure clarity on dispute resolution 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af38b9a6-ed6b-4acd-b8e7-5084aee8d225.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Usage Policies</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a02dfe63-3654-4f7a-8b1c-93a17a730892.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Only</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are permitted to print or download content for personal use only.</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Only</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are permitted to print or download content for personal use only.</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Only</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are permitted to print or download content for personal use only.</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Only</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are permitted to print or download content for personal use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Legal</a:t>
            </a:r>
          </a:p>
        </p:txBody>
      </p:sp>
      <p:pic>
        <p:nvPicPr>
          <p:cNvPr id="3" name="Picture 2" descr="0c5a9591-9dc8-43f5-b546-862aa6baca69.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811e2217-f01f-4750-970d-3ed5af9aa6a1.png"/>
          <p:cNvPicPr>
            <a:picLocks noChangeAspect="1"/>
          </p:cNvPicPr>
          <p:nvPr/>
        </p:nvPicPr>
        <p:blipFill>
          <a:blip r:embed="rId4"/>
          <a:stretch>
            <a:fillRect/>
          </a:stretch>
        </p:blipFill>
        <p:spPr>
          <a:xfrm>
            <a:off x="5257800" y="2095500"/>
            <a:ext cx="228600" cy="228600"/>
          </a:xfrm>
          <a:prstGeom prst="rect">
            <a:avLst/>
          </a:prstGeom>
        </p:spPr>
      </p:pic>
      <p:sp>
        <p:nvSpPr>
          <p:cNvPr id="5" name="Rounded Rectangle 4"/>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ccb0c856-7f06-4e97-b5bc-489dda4cab43.png"/>
          <p:cNvPicPr>
            <a:picLocks noChangeAspect="1"/>
          </p:cNvPicPr>
          <p:nvPr/>
        </p:nvPicPr>
        <p:blipFill>
          <a:blip r:embed="rId5"/>
          <a:stretch>
            <a:fillRect/>
          </a:stretch>
        </p:blipFill>
        <p:spPr>
          <a:xfrm>
            <a:off x="1143000" y="2419350"/>
            <a:ext cx="4267200" cy="3048000"/>
          </a:xfrm>
          <a:prstGeom prst="rect">
            <a:avLst/>
          </a:prstGeom>
        </p:spPr>
      </p:pic>
      <p:sp>
        <p:nvSpPr>
          <p:cNvPr id="7" name="TextBox 6"/>
          <p:cNvSpPr txBox="1"/>
          <p:nvPr/>
        </p:nvSpPr>
        <p:spPr>
          <a:xfrm>
            <a:off x="6400800" y="2286000"/>
            <a:ext cx="5067300"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350" b="0">
                <a:solidFill>
                  <a:srgbClr val="4B5563"/>
                </a:solidFill>
                <a:latin typeface="Poppins"/>
              </a:defRPr>
            </a:pPr>
            <a:r>
              <a:rPr i="0" sz="1350" b="0">
                <a:solidFill>
                  <a:srgbClr val="4B5563"/>
                </a:solidFill>
                <a:latin typeface="Poppins"/>
              </a:rPr>
              <a:t>DP World platform disputes are resolved under UAE law. UAE courts have exclusive jurisdiction. Terms of Use and Acceptable</a:t>
            </a:r>
          </a:p>
        </p:txBody>
      </p:sp>
      <p:sp>
        <p:nvSpPr>
          <p:cNvPr id="8" name="Rounded Rectangle 7"/>
          <p:cNvSpPr/>
          <p:nvPr/>
        </p:nvSpPr>
        <p:spPr>
          <a:xfrm>
            <a:off x="6400800" y="342900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bbe27a8d-339b-4465-9082-438ac459c1a9.png"/>
          <p:cNvPicPr>
            <a:picLocks noChangeAspect="1"/>
          </p:cNvPicPr>
          <p:nvPr/>
        </p:nvPicPr>
        <p:blipFill>
          <a:blip r:embed="rId6"/>
          <a:stretch>
            <a:fillRect/>
          </a:stretch>
        </p:blipFill>
        <p:spPr>
          <a:xfrm>
            <a:off x="6515100" y="3543300"/>
            <a:ext cx="228600" cy="228600"/>
          </a:xfrm>
          <a:prstGeom prst="rect">
            <a:avLst/>
          </a:prstGeom>
        </p:spPr>
      </p:pic>
      <p:sp>
        <p:nvSpPr>
          <p:cNvPr id="10" name="TextBox 9"/>
          <p:cNvSpPr txBox="1"/>
          <p:nvPr/>
        </p:nvSpPr>
        <p:spPr>
          <a:xfrm>
            <a:off x="7010400" y="342900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Indemnity Cl</a:t>
            </a:r>
          </a:p>
        </p:txBody>
      </p:sp>
      <p:sp>
        <p:nvSpPr>
          <p:cNvPr id="11" name="Rectangle 10"/>
          <p:cNvSpPr/>
          <p:nvPr/>
        </p:nvSpPr>
        <p:spPr>
          <a:xfrm>
            <a:off x="7010400" y="377190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7010400" y="390525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 obligations include indemnifying DP World for warranty breaches or intellectual property</a:t>
            </a:r>
          </a:p>
        </p:txBody>
      </p:sp>
      <p:sp>
        <p:nvSpPr>
          <p:cNvPr id="13" name="Rounded Rectangle 12"/>
          <p:cNvSpPr/>
          <p:nvPr/>
        </p:nvSpPr>
        <p:spPr>
          <a:xfrm>
            <a:off x="6400800" y="462915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bbe27a8d-339b-4465-9082-438ac459c1a9.png"/>
          <p:cNvPicPr>
            <a:picLocks noChangeAspect="1"/>
          </p:cNvPicPr>
          <p:nvPr/>
        </p:nvPicPr>
        <p:blipFill>
          <a:blip r:embed="rId6"/>
          <a:stretch>
            <a:fillRect/>
          </a:stretch>
        </p:blipFill>
        <p:spPr>
          <a:xfrm>
            <a:off x="6515100" y="4743450"/>
            <a:ext cx="228600" cy="228600"/>
          </a:xfrm>
          <a:prstGeom prst="rect">
            <a:avLst/>
          </a:prstGeom>
        </p:spPr>
      </p:pic>
      <p:sp>
        <p:nvSpPr>
          <p:cNvPr id="15" name="TextBox 14"/>
          <p:cNvSpPr txBox="1"/>
          <p:nvPr/>
        </p:nvSpPr>
        <p:spPr>
          <a:xfrm>
            <a:off x="7010400" y="462915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Policy Gover</a:t>
            </a:r>
          </a:p>
        </p:txBody>
      </p:sp>
      <p:sp>
        <p:nvSpPr>
          <p:cNvPr id="16" name="Rectangle 15"/>
          <p:cNvSpPr/>
          <p:nvPr/>
        </p:nvSpPr>
        <p:spPr>
          <a:xfrm>
            <a:off x="7010400" y="497205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010400" y="510540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Acceptable Use Policy governs user interactions with DP World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981200"/>
            <a:ext cx="4876800" cy="3048000"/>
          </a:xfrm>
          <a:prstGeom prst="roundRect">
            <a:avLst>
              <a:gd name="adj" fmla="val 4375"/>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4e91be92-926f-419e-957e-96f5021968d2.png"/>
          <p:cNvPicPr>
            <a:picLocks noChangeAspect="1"/>
          </p:cNvPicPr>
          <p:nvPr/>
        </p:nvPicPr>
        <p:blipFill>
          <a:blip r:embed="rId3"/>
          <a:stretch>
            <a:fillRect/>
          </a:stretch>
        </p:blipFill>
        <p:spPr>
          <a:xfrm>
            <a:off x="838200" y="1981200"/>
            <a:ext cx="4876800" cy="3048000"/>
          </a:xfrm>
          <a:prstGeom prst="rect">
            <a:avLst/>
          </a:prstGeom>
        </p:spPr>
      </p:pic>
      <p:sp>
        <p:nvSpPr>
          <p:cNvPr id="4" name="TextBox 3"/>
          <p:cNvSpPr txBox="1"/>
          <p:nvPr/>
        </p:nvSpPr>
        <p:spPr>
          <a:xfrm>
            <a:off x="6400800" y="1552575"/>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IP Ownership </a:t>
            </a:r>
            <a:r>
              <a:rPr i="0" sz="4500" b="1">
                <a:solidFill>
                  <a:srgbClr val="111827"/>
                </a:solidFill>
                <a:latin typeface="Poppins"/>
              </a:rPr>
              <a:t>&amp;</a:t>
            </a:r>
          </a:p>
        </p:txBody>
      </p:sp>
      <p:sp>
        <p:nvSpPr>
          <p:cNvPr id="5" name="Rectangle 4"/>
          <p:cNvSpPr/>
          <p:nvPr/>
        </p:nvSpPr>
        <p:spPr>
          <a:xfrm>
            <a:off x="6400800" y="2924175"/>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190875"/>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DP World owns or licenses all IP on its websites. Copyright laws protect proprietary content, prohibiting unauthorized use. Access to glossaries, case studies, and whitepapers ensures compliance and clarity in</a:t>
            </a:r>
          </a:p>
        </p:txBody>
      </p:sp>
      <p:sp>
        <p:nvSpPr>
          <p:cNvPr id="7" name="Rounded Rectangle 6"/>
          <p:cNvSpPr/>
          <p:nvPr/>
        </p:nvSpPr>
        <p:spPr>
          <a:xfrm>
            <a:off x="6400800" y="4486275"/>
            <a:ext cx="5029200" cy="971550"/>
          </a:xfrm>
          <a:prstGeom prst="roundRect">
            <a:avLst>
              <a:gd name="adj" fmla="val 5882"/>
            </a:avLst>
          </a:prstGeom>
          <a:solidFill>
            <a:srgbClr val="FFFFFF"/>
          </a:solidFill>
          <a:ln w="9525">
            <a:solidFill>
              <a:srgbClr val="E5E7EB"/>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6638925" y="4743450"/>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767958" y="4857750"/>
            <a:ext cx="238125"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1">
                <a:solidFill>
                  <a:srgbClr val="FFFFFF"/>
                </a:solidFill>
                <a:latin typeface="Poppins"/>
              </a:defRPr>
            </a:pPr>
            <a:r>
              <a:rPr i="0" sz="1200" b="1">
                <a:solidFill>
                  <a:srgbClr val="FFFFFF"/>
                </a:solidFill>
                <a:latin typeface="Poppins"/>
              </a:rPr>
              <a:t>DW</a:t>
            </a:r>
          </a:p>
        </p:txBody>
      </p:sp>
      <p:sp>
        <p:nvSpPr>
          <p:cNvPr id="10" name="TextBox 9"/>
          <p:cNvSpPr txBox="1"/>
          <p:nvPr/>
        </p:nvSpPr>
        <p:spPr>
          <a:xfrm>
            <a:off x="7248525" y="4724400"/>
            <a:ext cx="12573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1">
                <a:solidFill>
                  <a:srgbClr val="111827"/>
                </a:solidFill>
                <a:latin typeface="Poppins"/>
              </a:defRPr>
            </a:pPr>
            <a:r>
              <a:rPr i="0" sz="1500" b="1">
                <a:solidFill>
                  <a:srgbClr val="111827"/>
                </a:solidFill>
                <a:latin typeface="Poppins"/>
              </a:rPr>
              <a:t>Legal</a:t>
            </a:r>
          </a:p>
        </p:txBody>
      </p:sp>
      <p:sp>
        <p:nvSpPr>
          <p:cNvPr id="11" name="TextBox 10"/>
          <p:cNvSpPr txBox="1"/>
          <p:nvPr/>
        </p:nvSpPr>
        <p:spPr>
          <a:xfrm>
            <a:off x="7248525" y="4991100"/>
            <a:ext cx="125730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0">
                <a:solidFill>
                  <a:srgbClr val="4B5563"/>
                </a:solidFill>
                <a:latin typeface="Poppins"/>
              </a:defRPr>
            </a:pPr>
            <a:r>
              <a:rPr i="0" sz="1200" b="0">
                <a:solidFill>
                  <a:srgbClr val="4B5563"/>
                </a:solidFill>
                <a:latin typeface="Poppins"/>
              </a:rPr>
              <a:t>Content Sec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